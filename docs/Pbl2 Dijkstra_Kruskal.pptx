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5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975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2"/>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065A82">
              <a:alpha val="45000"/>
            </a:srgbClr>
          </a:solidFill>
          <a:ln/>
        </p:spPr>
        <p:txBody>
          <a:bodyPr/>
          <a:lstStyle/>
          <a:p>
            <a:endParaRPr lang="en-US"/>
          </a:p>
        </p:txBody>
      </p:sp>
      <p:sp>
        <p:nvSpPr>
          <p:cNvPr id="3" name="Shape 1"/>
          <p:cNvSpPr/>
          <p:nvPr/>
        </p:nvSpPr>
        <p:spPr>
          <a:xfrm>
            <a:off x="9692640" y="-548640"/>
            <a:ext cx="3291840" cy="3291840"/>
          </a:xfrm>
          <a:prstGeom prst="ellipse">
            <a:avLst/>
          </a:prstGeom>
          <a:solidFill>
            <a:srgbClr val="1C7293">
              <a:alpha val="60000"/>
            </a:srgbClr>
          </a:solidFill>
          <a:ln/>
        </p:spPr>
        <p:txBody>
          <a:bodyPr/>
          <a:lstStyle/>
          <a:p>
            <a:endParaRPr lang="en-US"/>
          </a:p>
        </p:txBody>
      </p:sp>
      <p:sp>
        <p:nvSpPr>
          <p:cNvPr id="4" name="Shape 2"/>
          <p:cNvSpPr/>
          <p:nvPr/>
        </p:nvSpPr>
        <p:spPr>
          <a:xfrm>
            <a:off x="10424160" y="182880"/>
            <a:ext cx="1828800" cy="1828800"/>
          </a:xfrm>
          <a:prstGeom prst="ellipse">
            <a:avLst/>
          </a:prstGeom>
          <a:solidFill>
            <a:srgbClr val="4FD1A5">
              <a:alpha val="70000"/>
            </a:srgbClr>
          </a:solidFill>
          <a:ln/>
        </p:spPr>
        <p:txBody>
          <a:bodyPr/>
          <a:lstStyle/>
          <a:p>
            <a:endParaRPr lang="en-US"/>
          </a:p>
        </p:txBody>
      </p:sp>
      <p:sp>
        <p:nvSpPr>
          <p:cNvPr id="5" name="Text 3"/>
          <p:cNvSpPr/>
          <p:nvPr/>
        </p:nvSpPr>
        <p:spPr>
          <a:xfrm>
            <a:off x="777240" y="1051560"/>
            <a:ext cx="7315200" cy="320040"/>
          </a:xfrm>
          <a:prstGeom prst="rect">
            <a:avLst/>
          </a:prstGeom>
          <a:noFill/>
          <a:ln/>
        </p:spPr>
        <p:txBody>
          <a:bodyPr wrap="square" lIns="0" tIns="0" rIns="0" bIns="0" rtlCol="0" anchor="ctr"/>
          <a:lstStyle/>
          <a:p>
            <a:pPr marL="0" indent="0">
              <a:buNone/>
            </a:pPr>
            <a:r>
              <a:rPr lang="en-US" sz="1400" b="1" kern="0" spc="200" dirty="0">
                <a:solidFill>
                  <a:srgbClr val="4FD1A5"/>
                </a:solidFill>
                <a:latin typeface="Times New Roman" pitchFamily="34" charset="0"/>
                <a:ea typeface="Times New Roman" pitchFamily="34" charset="-122"/>
                <a:cs typeface="Times New Roman" pitchFamily="34" charset="-120"/>
              </a:rPr>
              <a:t>PBL2  •  ĐỒ ÁN CƠ SỞ LẬP TRÌNH</a:t>
            </a:r>
            <a:endParaRPr lang="en-US" sz="1400" dirty="0"/>
          </a:p>
        </p:txBody>
      </p:sp>
      <p:sp>
        <p:nvSpPr>
          <p:cNvPr id="6" name="Text 4"/>
          <p:cNvSpPr/>
          <p:nvPr/>
        </p:nvSpPr>
        <p:spPr>
          <a:xfrm>
            <a:off x="777240" y="1828800"/>
            <a:ext cx="9601200" cy="201168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Times New Roman" pitchFamily="34" charset="0"/>
                <a:ea typeface="Times New Roman" pitchFamily="34" charset="-122"/>
                <a:cs typeface="Times New Roman" pitchFamily="34" charset="-120"/>
              </a:rPr>
              <a:t>Thuật toán Dijkstra &amp; Kruskal</a:t>
            </a:r>
            <a:endParaRPr lang="en-US" sz="4000" dirty="0"/>
          </a:p>
          <a:p>
            <a:pPr marL="0" indent="0">
              <a:lnSpc>
                <a:spcPct val="108000"/>
              </a:lnSpc>
              <a:buNone/>
            </a:pPr>
            <a:r>
              <a:rPr lang="en-US" sz="4000" b="1" dirty="0">
                <a:solidFill>
                  <a:srgbClr val="FFFFFF"/>
                </a:solidFill>
                <a:latin typeface="Times New Roman" pitchFamily="34" charset="0"/>
                <a:ea typeface="Times New Roman" pitchFamily="34" charset="-122"/>
                <a:cs typeface="Times New Roman" pitchFamily="34" charset="-120"/>
              </a:rPr>
              <a:t>trong mô phỏng và tối ưu hóa mạng</a:t>
            </a:r>
            <a:endParaRPr lang="en-US" sz="4000" dirty="0"/>
          </a:p>
        </p:txBody>
      </p:sp>
      <p:sp>
        <p:nvSpPr>
          <p:cNvPr id="7" name="Text 5"/>
          <p:cNvSpPr/>
          <p:nvPr/>
        </p:nvSpPr>
        <p:spPr>
          <a:xfrm>
            <a:off x="822960" y="3794760"/>
            <a:ext cx="8412480" cy="822960"/>
          </a:xfrm>
          <a:prstGeom prst="rect">
            <a:avLst/>
          </a:prstGeom>
          <a:noFill/>
          <a:ln/>
        </p:spPr>
        <p:txBody>
          <a:bodyPr wrap="square" lIns="0" tIns="0" rIns="0" bIns="0" rtlCol="0" anchor="ctr"/>
          <a:lstStyle/>
          <a:p>
            <a:pPr marL="0" indent="0">
              <a:lnSpc>
                <a:spcPct val="130000"/>
              </a:lnSpc>
              <a:buNone/>
            </a:pPr>
            <a:r>
              <a:rPr lang="en-US" sz="1500" dirty="0">
                <a:solidFill>
                  <a:srgbClr val="CADCE0"/>
                </a:solidFill>
                <a:latin typeface="Times New Roman" pitchFamily="34" charset="0"/>
                <a:ea typeface="Times New Roman" pitchFamily="34" charset="-122"/>
                <a:cs typeface="Times New Roman" pitchFamily="34" charset="-120"/>
              </a:rPr>
              <a:t>Quy trình xử lý từng bước: từ tìm đường đi ngắn nhất giữa các thiết bị</a:t>
            </a:r>
            <a:endParaRPr lang="en-US" sz="1500" dirty="0"/>
          </a:p>
          <a:p>
            <a:pPr marL="0" indent="0">
              <a:lnSpc>
                <a:spcPct val="130000"/>
              </a:lnSpc>
              <a:buNone/>
            </a:pPr>
            <a:r>
              <a:rPr lang="en-US" sz="1500" dirty="0">
                <a:solidFill>
                  <a:srgbClr val="CADCE0"/>
                </a:solidFill>
                <a:latin typeface="Times New Roman" pitchFamily="34" charset="0"/>
                <a:ea typeface="Times New Roman" pitchFamily="34" charset="-122"/>
                <a:cs typeface="Times New Roman" pitchFamily="34" charset="-120"/>
              </a:rPr>
              <a:t>đến thiết kế hạ tầng mạng với chi phí tối thiểu.</a:t>
            </a:r>
            <a:endParaRPr lang="en-US" sz="1500" dirty="0"/>
          </a:p>
        </p:txBody>
      </p:sp>
      <p:sp>
        <p:nvSpPr>
          <p:cNvPr id="8" name="Shape 6"/>
          <p:cNvSpPr/>
          <p:nvPr/>
        </p:nvSpPr>
        <p:spPr>
          <a:xfrm>
            <a:off x="822960" y="4892040"/>
            <a:ext cx="1005840" cy="0"/>
          </a:xfrm>
          <a:prstGeom prst="line">
            <a:avLst/>
          </a:prstGeom>
          <a:noFill/>
          <a:ln w="31750">
            <a:solidFill>
              <a:srgbClr val="4FD1A5"/>
            </a:solidFill>
            <a:prstDash val="solid"/>
          </a:ln>
        </p:spPr>
        <p:txBody>
          <a:bodyPr/>
          <a:lstStyle/>
          <a:p>
            <a:endParaRPr lang="en-US"/>
          </a:p>
        </p:txBody>
      </p:sp>
      <p:sp>
        <p:nvSpPr>
          <p:cNvPr id="9" name="Text 7"/>
          <p:cNvSpPr/>
          <p:nvPr/>
        </p:nvSpPr>
        <p:spPr>
          <a:xfrm>
            <a:off x="822960" y="5029200"/>
            <a:ext cx="7315200" cy="32004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Giới thiệu bài toán</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Hai bài toán kinh điển trong hệ thống mạng, mỗi bài toán ứng với một thuật toán tối ưu riêng</a:t>
            </a:r>
            <a:endParaRPr lang="en-US" sz="1400" dirty="0"/>
          </a:p>
        </p:txBody>
      </p:sp>
      <p:sp>
        <p:nvSpPr>
          <p:cNvPr id="4" name="Shape 2"/>
          <p:cNvSpPr/>
          <p:nvPr/>
        </p:nvSpPr>
        <p:spPr>
          <a:xfrm>
            <a:off x="640080" y="1783080"/>
            <a:ext cx="5257800" cy="4206240"/>
          </a:xfrm>
          <a:prstGeom prst="roundRect">
            <a:avLst>
              <a:gd name="adj" fmla="val 2609"/>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5" name="Text 3"/>
          <p:cNvSpPr/>
          <p:nvPr/>
        </p:nvSpPr>
        <p:spPr>
          <a:xfrm>
            <a:off x="1005840" y="2130552"/>
            <a:ext cx="2743200" cy="320040"/>
          </a:xfrm>
          <a:prstGeom prst="rect">
            <a:avLst/>
          </a:prstGeom>
          <a:noFill/>
          <a:ln/>
        </p:spPr>
        <p:txBody>
          <a:bodyPr wrap="square" lIns="0" tIns="0" rIns="0" bIns="0" rtlCol="0" anchor="ctr"/>
          <a:lstStyle/>
          <a:p>
            <a:pPr marL="0" indent="0">
              <a:buNone/>
            </a:pPr>
            <a:r>
              <a:rPr lang="en-US" sz="1200" b="1" kern="0" spc="150" dirty="0">
                <a:solidFill>
                  <a:srgbClr val="1C7293"/>
                </a:solidFill>
                <a:latin typeface="Times New Roman" pitchFamily="34" charset="0"/>
                <a:ea typeface="Times New Roman" pitchFamily="34" charset="-122"/>
                <a:cs typeface="Times New Roman" pitchFamily="34" charset="-120"/>
              </a:rPr>
              <a:t>DIJKSTRA</a:t>
            </a:r>
            <a:endParaRPr lang="en-US" sz="1200" dirty="0"/>
          </a:p>
        </p:txBody>
      </p:sp>
      <p:sp>
        <p:nvSpPr>
          <p:cNvPr id="6" name="Text 4"/>
          <p:cNvSpPr/>
          <p:nvPr/>
        </p:nvSpPr>
        <p:spPr>
          <a:xfrm>
            <a:off x="1005840" y="2496312"/>
            <a:ext cx="4526280" cy="685800"/>
          </a:xfrm>
          <a:prstGeom prst="rect">
            <a:avLst/>
          </a:prstGeom>
          <a:noFill/>
          <a:ln/>
        </p:spPr>
        <p:txBody>
          <a:bodyPr wrap="square" lIns="0" tIns="0" rIns="0" bIns="0" rtlCol="0" anchor="t"/>
          <a:lstStyle/>
          <a:p>
            <a:pPr marL="0" indent="0">
              <a:buNone/>
            </a:pPr>
            <a:r>
              <a:rPr lang="en-US" sz="2200" b="1" dirty="0">
                <a:solidFill>
                  <a:srgbClr val="1B2B34"/>
                </a:solidFill>
                <a:latin typeface="Times New Roman" pitchFamily="34" charset="0"/>
                <a:ea typeface="Times New Roman" pitchFamily="34" charset="-122"/>
                <a:cs typeface="Times New Roman" pitchFamily="34" charset="-120"/>
              </a:rPr>
              <a:t>Định tuyến gói tin (Routing)</a:t>
            </a:r>
            <a:endParaRPr lang="en-US" sz="2200" dirty="0"/>
          </a:p>
        </p:txBody>
      </p:sp>
      <p:sp>
        <p:nvSpPr>
          <p:cNvPr id="7" name="Text 5"/>
          <p:cNvSpPr/>
          <p:nvPr/>
        </p:nvSpPr>
        <p:spPr>
          <a:xfrm>
            <a:off x="1005840" y="3264408"/>
            <a:ext cx="4526280" cy="1508760"/>
          </a:xfrm>
          <a:prstGeom prst="rect">
            <a:avLst/>
          </a:prstGeom>
          <a:noFill/>
          <a:ln/>
        </p:spPr>
        <p:txBody>
          <a:bodyPr wrap="square" lIns="0" tIns="0" rIns="0" bIns="0" rtlCol="0" anchor="t"/>
          <a:lstStyle/>
          <a:p>
            <a:pPr marL="0" indent="0">
              <a:lnSpc>
                <a:spcPct val="140000"/>
              </a:lnSpc>
              <a:buNone/>
            </a:pPr>
            <a:r>
              <a:rPr lang="en-US" sz="1350" dirty="0">
                <a:solidFill>
                  <a:srgbClr val="6B7C85"/>
                </a:solidFill>
                <a:latin typeface="Times New Roman" pitchFamily="34" charset="0"/>
                <a:ea typeface="Times New Roman" pitchFamily="34" charset="-122"/>
                <a:cs typeface="Times New Roman" pitchFamily="34" charset="-120"/>
              </a:rPr>
              <a:t>Cần tìm đường đi có chi phí thấp nhất (độ trễ, băng thông, số hop...) từ router nguồn đến router đích trong một mạng gồm nhiều thiết bị kết nối với nhau.</a:t>
            </a:r>
            <a:endParaRPr lang="en-US" sz="1350" dirty="0"/>
          </a:p>
        </p:txBody>
      </p:sp>
      <p:sp>
        <p:nvSpPr>
          <p:cNvPr id="8" name="Shape 6"/>
          <p:cNvSpPr/>
          <p:nvPr/>
        </p:nvSpPr>
        <p:spPr>
          <a:xfrm>
            <a:off x="1005840" y="5038344"/>
            <a:ext cx="82296" cy="82296"/>
          </a:xfrm>
          <a:prstGeom prst="ellipse">
            <a:avLst/>
          </a:prstGeom>
          <a:solidFill>
            <a:srgbClr val="1C7293"/>
          </a:solidFill>
          <a:ln/>
        </p:spPr>
        <p:txBody>
          <a:bodyPr/>
          <a:lstStyle/>
          <a:p>
            <a:endParaRPr lang="en-US"/>
          </a:p>
        </p:txBody>
      </p:sp>
      <p:sp>
        <p:nvSpPr>
          <p:cNvPr id="9" name="Text 7"/>
          <p:cNvSpPr/>
          <p:nvPr/>
        </p:nvSpPr>
        <p:spPr>
          <a:xfrm>
            <a:off x="1207008" y="4946904"/>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Đồ thị có trọng số không âm</a:t>
            </a:r>
            <a:endParaRPr lang="en-US" sz="1150" dirty="0"/>
          </a:p>
        </p:txBody>
      </p:sp>
      <p:sp>
        <p:nvSpPr>
          <p:cNvPr id="10" name="Shape 8"/>
          <p:cNvSpPr/>
          <p:nvPr/>
        </p:nvSpPr>
        <p:spPr>
          <a:xfrm>
            <a:off x="1005840" y="5385816"/>
            <a:ext cx="82296" cy="82296"/>
          </a:xfrm>
          <a:prstGeom prst="ellipse">
            <a:avLst/>
          </a:prstGeom>
          <a:solidFill>
            <a:srgbClr val="1C7293"/>
          </a:solidFill>
          <a:ln/>
        </p:spPr>
        <p:txBody>
          <a:bodyPr/>
          <a:lstStyle/>
          <a:p>
            <a:endParaRPr lang="en-US"/>
          </a:p>
        </p:txBody>
      </p:sp>
      <p:sp>
        <p:nvSpPr>
          <p:cNvPr id="11" name="Text 9"/>
          <p:cNvSpPr/>
          <p:nvPr/>
        </p:nvSpPr>
        <p:spPr>
          <a:xfrm>
            <a:off x="1207008" y="5294376"/>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Tìm đường đi ngắn nhất từ 1 đỉnh nguồn</a:t>
            </a:r>
            <a:endParaRPr lang="en-US" sz="1150" dirty="0"/>
          </a:p>
        </p:txBody>
      </p:sp>
      <p:sp>
        <p:nvSpPr>
          <p:cNvPr id="12" name="Shape 10"/>
          <p:cNvSpPr/>
          <p:nvPr/>
        </p:nvSpPr>
        <p:spPr>
          <a:xfrm>
            <a:off x="1005840" y="5733288"/>
            <a:ext cx="82296" cy="82296"/>
          </a:xfrm>
          <a:prstGeom prst="ellipse">
            <a:avLst/>
          </a:prstGeom>
          <a:solidFill>
            <a:srgbClr val="1C7293"/>
          </a:solidFill>
          <a:ln/>
        </p:spPr>
        <p:txBody>
          <a:bodyPr/>
          <a:lstStyle/>
          <a:p>
            <a:endParaRPr lang="en-US"/>
          </a:p>
        </p:txBody>
      </p:sp>
      <p:sp>
        <p:nvSpPr>
          <p:cNvPr id="13" name="Text 11"/>
          <p:cNvSpPr/>
          <p:nvPr/>
        </p:nvSpPr>
        <p:spPr>
          <a:xfrm>
            <a:off x="1207008" y="5641848"/>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Nền tảng của giao thức định tuyến OSPF</a:t>
            </a:r>
            <a:endParaRPr lang="en-US" sz="1150" dirty="0"/>
          </a:p>
        </p:txBody>
      </p:sp>
      <p:sp>
        <p:nvSpPr>
          <p:cNvPr id="14" name="Shape 12"/>
          <p:cNvSpPr/>
          <p:nvPr/>
        </p:nvSpPr>
        <p:spPr>
          <a:xfrm>
            <a:off x="6263640" y="1783080"/>
            <a:ext cx="5257800" cy="4206240"/>
          </a:xfrm>
          <a:prstGeom prst="roundRect">
            <a:avLst>
              <a:gd name="adj" fmla="val 2609"/>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5" name="Text 13"/>
          <p:cNvSpPr/>
          <p:nvPr/>
        </p:nvSpPr>
        <p:spPr>
          <a:xfrm>
            <a:off x="6629400" y="2130552"/>
            <a:ext cx="2743200" cy="320040"/>
          </a:xfrm>
          <a:prstGeom prst="rect">
            <a:avLst/>
          </a:prstGeom>
          <a:noFill/>
          <a:ln/>
        </p:spPr>
        <p:txBody>
          <a:bodyPr wrap="square" lIns="0" tIns="0" rIns="0" bIns="0" rtlCol="0" anchor="ctr"/>
          <a:lstStyle/>
          <a:p>
            <a:pPr marL="0" indent="0">
              <a:buNone/>
            </a:pPr>
            <a:r>
              <a:rPr lang="en-US" sz="1200" b="1" kern="0" spc="150" dirty="0">
                <a:solidFill>
                  <a:srgbClr val="F0A202"/>
                </a:solidFill>
                <a:latin typeface="Times New Roman" pitchFamily="34" charset="0"/>
                <a:ea typeface="Times New Roman" pitchFamily="34" charset="-122"/>
                <a:cs typeface="Times New Roman" pitchFamily="34" charset="-120"/>
              </a:rPr>
              <a:t>KRUSKAL</a:t>
            </a:r>
            <a:endParaRPr lang="en-US" sz="1200" dirty="0"/>
          </a:p>
        </p:txBody>
      </p:sp>
      <p:sp>
        <p:nvSpPr>
          <p:cNvPr id="16" name="Text 14"/>
          <p:cNvSpPr/>
          <p:nvPr/>
        </p:nvSpPr>
        <p:spPr>
          <a:xfrm>
            <a:off x="6629400" y="2496312"/>
            <a:ext cx="4526280" cy="685800"/>
          </a:xfrm>
          <a:prstGeom prst="rect">
            <a:avLst/>
          </a:prstGeom>
          <a:noFill/>
          <a:ln/>
        </p:spPr>
        <p:txBody>
          <a:bodyPr wrap="square" lIns="0" tIns="0" rIns="0" bIns="0" rtlCol="0" anchor="t"/>
          <a:lstStyle/>
          <a:p>
            <a:pPr marL="0" indent="0">
              <a:buNone/>
            </a:pPr>
            <a:r>
              <a:rPr lang="en-US" sz="2200" b="1" dirty="0">
                <a:solidFill>
                  <a:srgbClr val="1B2B34"/>
                </a:solidFill>
                <a:latin typeface="Times New Roman" pitchFamily="34" charset="0"/>
                <a:ea typeface="Times New Roman" pitchFamily="34" charset="-122"/>
                <a:cs typeface="Times New Roman" pitchFamily="34" charset="-120"/>
              </a:rPr>
              <a:t>Thiết kế hạ tầng mạng</a:t>
            </a:r>
            <a:endParaRPr lang="en-US" sz="2200" dirty="0"/>
          </a:p>
        </p:txBody>
      </p:sp>
      <p:sp>
        <p:nvSpPr>
          <p:cNvPr id="17" name="Text 15"/>
          <p:cNvSpPr/>
          <p:nvPr/>
        </p:nvSpPr>
        <p:spPr>
          <a:xfrm>
            <a:off x="6629400" y="3264408"/>
            <a:ext cx="4526280" cy="1508760"/>
          </a:xfrm>
          <a:prstGeom prst="rect">
            <a:avLst/>
          </a:prstGeom>
          <a:noFill/>
          <a:ln/>
        </p:spPr>
        <p:txBody>
          <a:bodyPr wrap="square" lIns="0" tIns="0" rIns="0" bIns="0" rtlCol="0" anchor="t"/>
          <a:lstStyle/>
          <a:p>
            <a:pPr marL="0" indent="0">
              <a:lnSpc>
                <a:spcPct val="140000"/>
              </a:lnSpc>
              <a:buNone/>
            </a:pPr>
            <a:r>
              <a:rPr lang="en-US" sz="1350" dirty="0">
                <a:solidFill>
                  <a:srgbClr val="6B7C85"/>
                </a:solidFill>
                <a:latin typeface="Times New Roman" pitchFamily="34" charset="0"/>
                <a:ea typeface="Times New Roman" pitchFamily="34" charset="-122"/>
                <a:cs typeface="Times New Roman" pitchFamily="34" charset="-120"/>
              </a:rPr>
              <a:t>Khi triển khai cáp/đường truyền giữa các điểm (node), cần tối thiểu hóa tổng chi phí lắp đặt sao cho toàn bộ mạng vẫn liên thông với nhau.</a:t>
            </a:r>
            <a:endParaRPr lang="en-US" sz="1350" dirty="0"/>
          </a:p>
        </p:txBody>
      </p:sp>
      <p:sp>
        <p:nvSpPr>
          <p:cNvPr id="18" name="Shape 16"/>
          <p:cNvSpPr/>
          <p:nvPr/>
        </p:nvSpPr>
        <p:spPr>
          <a:xfrm>
            <a:off x="6629400" y="5038344"/>
            <a:ext cx="82296" cy="82296"/>
          </a:xfrm>
          <a:prstGeom prst="ellipse">
            <a:avLst/>
          </a:prstGeom>
          <a:solidFill>
            <a:srgbClr val="F0A202"/>
          </a:solidFill>
          <a:ln/>
        </p:spPr>
        <p:txBody>
          <a:bodyPr/>
          <a:lstStyle/>
          <a:p>
            <a:endParaRPr lang="en-US"/>
          </a:p>
        </p:txBody>
      </p:sp>
      <p:sp>
        <p:nvSpPr>
          <p:cNvPr id="19" name="Text 17"/>
          <p:cNvSpPr/>
          <p:nvPr/>
        </p:nvSpPr>
        <p:spPr>
          <a:xfrm>
            <a:off x="6830568" y="4946904"/>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Tìm cây khung nhỏ nhất (MST)</a:t>
            </a:r>
            <a:endParaRPr lang="en-US" sz="1150" dirty="0"/>
          </a:p>
        </p:txBody>
      </p:sp>
      <p:sp>
        <p:nvSpPr>
          <p:cNvPr id="20" name="Shape 18"/>
          <p:cNvSpPr/>
          <p:nvPr/>
        </p:nvSpPr>
        <p:spPr>
          <a:xfrm>
            <a:off x="6629400" y="5385816"/>
            <a:ext cx="82296" cy="82296"/>
          </a:xfrm>
          <a:prstGeom prst="ellipse">
            <a:avLst/>
          </a:prstGeom>
          <a:solidFill>
            <a:srgbClr val="F0A202"/>
          </a:solidFill>
          <a:ln/>
        </p:spPr>
        <p:txBody>
          <a:bodyPr/>
          <a:lstStyle/>
          <a:p>
            <a:endParaRPr lang="en-US"/>
          </a:p>
        </p:txBody>
      </p:sp>
      <p:sp>
        <p:nvSpPr>
          <p:cNvPr id="21" name="Text 19"/>
          <p:cNvSpPr/>
          <p:nvPr/>
        </p:nvSpPr>
        <p:spPr>
          <a:xfrm>
            <a:off x="6830568" y="5294376"/>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Tổng trọng số các cạnh là nhỏ nhất</a:t>
            </a:r>
            <a:endParaRPr lang="en-US" sz="1150" dirty="0"/>
          </a:p>
        </p:txBody>
      </p:sp>
      <p:sp>
        <p:nvSpPr>
          <p:cNvPr id="22" name="Shape 20"/>
          <p:cNvSpPr/>
          <p:nvPr/>
        </p:nvSpPr>
        <p:spPr>
          <a:xfrm>
            <a:off x="6629400" y="5733288"/>
            <a:ext cx="82296" cy="82296"/>
          </a:xfrm>
          <a:prstGeom prst="ellipse">
            <a:avLst/>
          </a:prstGeom>
          <a:solidFill>
            <a:srgbClr val="F0A202"/>
          </a:solidFill>
          <a:ln/>
        </p:spPr>
        <p:txBody>
          <a:bodyPr/>
          <a:lstStyle/>
          <a:p>
            <a:endParaRPr lang="en-US"/>
          </a:p>
        </p:txBody>
      </p:sp>
      <p:sp>
        <p:nvSpPr>
          <p:cNvPr id="23" name="Text 21"/>
          <p:cNvSpPr/>
          <p:nvPr/>
        </p:nvSpPr>
        <p:spPr>
          <a:xfrm>
            <a:off x="6830568" y="5641848"/>
            <a:ext cx="4343400" cy="329184"/>
          </a:xfrm>
          <a:prstGeom prst="rect">
            <a:avLst/>
          </a:prstGeom>
          <a:noFill/>
          <a:ln/>
        </p:spPr>
        <p:txBody>
          <a:bodyPr wrap="square" lIns="0" tIns="0" rIns="0" bIns="0" rtlCol="0" anchor="ctr"/>
          <a:lstStyle/>
          <a:p>
            <a:pPr marL="0" indent="0">
              <a:buNone/>
            </a:pPr>
            <a:r>
              <a:rPr lang="en-US" sz="1150" dirty="0">
                <a:solidFill>
                  <a:srgbClr val="1B2B34"/>
                </a:solidFill>
                <a:latin typeface="Times New Roman" pitchFamily="34" charset="0"/>
                <a:ea typeface="Times New Roman" pitchFamily="34" charset="-122"/>
                <a:cs typeface="Times New Roman" pitchFamily="34" charset="-120"/>
              </a:rPr>
              <a:t>Tối ưu chi phí đi dây cáp mạng</a:t>
            </a:r>
            <a:endParaRPr lang="en-US" sz="1150" dirty="0"/>
          </a:p>
        </p:txBody>
      </p:sp>
      <p:sp>
        <p:nvSpPr>
          <p:cNvPr id="24" name="Text 22"/>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25" name="Text 2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Mô hình hóa mạng bằng đồ thị</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Hệ thống mạng được biểu diễn dưới dạng đồ thị G = (V, E) có trọng số</a:t>
            </a:r>
            <a:endParaRPr lang="en-US" sz="1400" dirty="0"/>
          </a:p>
        </p:txBody>
      </p:sp>
      <p:sp>
        <p:nvSpPr>
          <p:cNvPr id="4" name="Text 2"/>
          <p:cNvSpPr/>
          <p:nvPr/>
        </p:nvSpPr>
        <p:spPr>
          <a:xfrm>
            <a:off x="640080" y="1737360"/>
            <a:ext cx="4572000" cy="548640"/>
          </a:xfrm>
          <a:prstGeom prst="rect">
            <a:avLst/>
          </a:prstGeom>
          <a:noFill/>
          <a:ln/>
        </p:spPr>
        <p:txBody>
          <a:bodyPr wrap="square" lIns="0" tIns="0" rIns="0" bIns="0" rtlCol="0" anchor="t"/>
          <a:lstStyle/>
          <a:p>
            <a:pPr marL="0" indent="0">
              <a:lnSpc>
                <a:spcPct val="130000"/>
              </a:lnSpc>
              <a:buNone/>
            </a:pPr>
            <a:r>
              <a:rPr lang="en-US" sz="1350" b="1" dirty="0">
                <a:solidFill>
                  <a:srgbClr val="1B2B34"/>
                </a:solidFill>
                <a:latin typeface="Times New Roman" pitchFamily="34" charset="0"/>
                <a:ea typeface="Times New Roman" pitchFamily="34" charset="-122"/>
                <a:cs typeface="Times New Roman" pitchFamily="34" charset="-120"/>
              </a:rPr>
              <a:t>V (Vertices): </a:t>
            </a:r>
            <a:r>
              <a:rPr lang="en-US" sz="1350" dirty="0">
                <a:solidFill>
                  <a:srgbClr val="6B7C85"/>
                </a:solidFill>
                <a:latin typeface="Times New Roman" pitchFamily="34" charset="0"/>
                <a:ea typeface="Times New Roman" pitchFamily="34" charset="-122"/>
                <a:cs typeface="Times New Roman" pitchFamily="34" charset="-120"/>
              </a:rPr>
              <a:t>tập các thiết bị mạng — router, switch, máy chủ, máy trạm...</a:t>
            </a:r>
            <a:endParaRPr lang="en-US" sz="1350" dirty="0"/>
          </a:p>
        </p:txBody>
      </p:sp>
      <p:sp>
        <p:nvSpPr>
          <p:cNvPr id="5" name="Text 3"/>
          <p:cNvSpPr/>
          <p:nvPr/>
        </p:nvSpPr>
        <p:spPr>
          <a:xfrm>
            <a:off x="640080" y="2359152"/>
            <a:ext cx="4572000" cy="548640"/>
          </a:xfrm>
          <a:prstGeom prst="rect">
            <a:avLst/>
          </a:prstGeom>
          <a:noFill/>
          <a:ln/>
        </p:spPr>
        <p:txBody>
          <a:bodyPr wrap="square" lIns="0" tIns="0" rIns="0" bIns="0" rtlCol="0" anchor="t"/>
          <a:lstStyle/>
          <a:p>
            <a:pPr marL="0" indent="0">
              <a:lnSpc>
                <a:spcPct val="130000"/>
              </a:lnSpc>
              <a:buNone/>
            </a:pPr>
            <a:r>
              <a:rPr lang="en-US" sz="1350" b="1" dirty="0">
                <a:solidFill>
                  <a:srgbClr val="1B2B34"/>
                </a:solidFill>
                <a:latin typeface="Times New Roman" pitchFamily="34" charset="0"/>
                <a:ea typeface="Times New Roman" pitchFamily="34" charset="-122"/>
                <a:cs typeface="Times New Roman" pitchFamily="34" charset="-120"/>
              </a:rPr>
              <a:t>E (Edges): </a:t>
            </a:r>
            <a:r>
              <a:rPr lang="en-US" sz="1350" dirty="0">
                <a:solidFill>
                  <a:srgbClr val="6B7C85"/>
                </a:solidFill>
                <a:latin typeface="Times New Roman" pitchFamily="34" charset="0"/>
                <a:ea typeface="Times New Roman" pitchFamily="34" charset="-122"/>
                <a:cs typeface="Times New Roman" pitchFamily="34" charset="-120"/>
              </a:rPr>
              <a:t>tập các liên kết vật lý/logic giữa các thiết bị</a:t>
            </a:r>
            <a:endParaRPr lang="en-US" sz="1350" dirty="0"/>
          </a:p>
        </p:txBody>
      </p:sp>
      <p:sp>
        <p:nvSpPr>
          <p:cNvPr id="6" name="Text 4"/>
          <p:cNvSpPr/>
          <p:nvPr/>
        </p:nvSpPr>
        <p:spPr>
          <a:xfrm>
            <a:off x="640080" y="2980944"/>
            <a:ext cx="4572000" cy="548640"/>
          </a:xfrm>
          <a:prstGeom prst="rect">
            <a:avLst/>
          </a:prstGeom>
          <a:noFill/>
          <a:ln/>
        </p:spPr>
        <p:txBody>
          <a:bodyPr wrap="square" lIns="0" tIns="0" rIns="0" bIns="0" rtlCol="0" anchor="t"/>
          <a:lstStyle/>
          <a:p>
            <a:pPr marL="0" indent="0">
              <a:lnSpc>
                <a:spcPct val="130000"/>
              </a:lnSpc>
              <a:buNone/>
            </a:pPr>
            <a:r>
              <a:rPr lang="en-US" sz="1350" b="1" dirty="0">
                <a:solidFill>
                  <a:srgbClr val="1B2B34"/>
                </a:solidFill>
                <a:latin typeface="Times New Roman" pitchFamily="34" charset="0"/>
                <a:ea typeface="Times New Roman" pitchFamily="34" charset="-122"/>
                <a:cs typeface="Times New Roman" pitchFamily="34" charset="-120"/>
              </a:rPr>
              <a:t>w(e): </a:t>
            </a:r>
            <a:r>
              <a:rPr lang="en-US" sz="1350" dirty="0">
                <a:solidFill>
                  <a:srgbClr val="6B7C85"/>
                </a:solidFill>
                <a:latin typeface="Times New Roman" pitchFamily="34" charset="0"/>
                <a:ea typeface="Times New Roman" pitchFamily="34" charset="-122"/>
                <a:cs typeface="Times New Roman" pitchFamily="34" charset="-120"/>
              </a:rPr>
              <a:t>trọng số biểu diễn chi phí, độ trễ hoặc khoảng cách của liên kết</a:t>
            </a:r>
            <a:endParaRPr lang="en-US" sz="1350" dirty="0"/>
          </a:p>
        </p:txBody>
      </p:sp>
      <p:sp>
        <p:nvSpPr>
          <p:cNvPr id="7" name="Text 5"/>
          <p:cNvSpPr/>
          <p:nvPr/>
        </p:nvSpPr>
        <p:spPr>
          <a:xfrm>
            <a:off x="640080" y="3831336"/>
            <a:ext cx="4572000" cy="292608"/>
          </a:xfrm>
          <a:prstGeom prst="rect">
            <a:avLst/>
          </a:prstGeom>
          <a:noFill/>
          <a:ln/>
        </p:spPr>
        <p:txBody>
          <a:bodyPr wrap="square" lIns="0" tIns="0" rIns="0" bIns="0" rtlCol="0" anchor="ctr"/>
          <a:lstStyle/>
          <a:p>
            <a:pPr marL="0" indent="0">
              <a:buNone/>
            </a:pPr>
            <a:r>
              <a:rPr lang="en-US" sz="1150" b="1" kern="0" spc="100" dirty="0">
                <a:solidFill>
                  <a:srgbClr val="1B2B34"/>
                </a:solidFill>
                <a:latin typeface="Times New Roman" pitchFamily="34" charset="0"/>
                <a:ea typeface="Times New Roman" pitchFamily="34" charset="-122"/>
                <a:cs typeface="Times New Roman" pitchFamily="34" charset="-120"/>
              </a:rPr>
              <a:t>CẤU TRÚC DỮ LIỆU SỬ DỤNG</a:t>
            </a:r>
            <a:endParaRPr lang="en-US" sz="1150" dirty="0"/>
          </a:p>
        </p:txBody>
      </p:sp>
      <p:sp>
        <p:nvSpPr>
          <p:cNvPr id="8" name="Shape 6"/>
          <p:cNvSpPr/>
          <p:nvPr/>
        </p:nvSpPr>
        <p:spPr>
          <a:xfrm>
            <a:off x="640080" y="4279392"/>
            <a:ext cx="91440" cy="91440"/>
          </a:xfrm>
          <a:prstGeom prst="ellipse">
            <a:avLst/>
          </a:prstGeom>
          <a:solidFill>
            <a:srgbClr val="1C7293"/>
          </a:solidFill>
          <a:ln/>
        </p:spPr>
        <p:txBody>
          <a:bodyPr/>
          <a:lstStyle/>
          <a:p>
            <a:endParaRPr lang="en-US"/>
          </a:p>
        </p:txBody>
      </p:sp>
      <p:sp>
        <p:nvSpPr>
          <p:cNvPr id="9" name="Text 7"/>
          <p:cNvSpPr/>
          <p:nvPr/>
        </p:nvSpPr>
        <p:spPr>
          <a:xfrm>
            <a:off x="859536" y="4197096"/>
            <a:ext cx="4389120" cy="329184"/>
          </a:xfrm>
          <a:prstGeom prst="rect">
            <a:avLst/>
          </a:prstGeom>
          <a:noFill/>
          <a:ln/>
        </p:spPr>
        <p:txBody>
          <a:bodyPr wrap="square" lIns="0" tIns="0" rIns="0" bIns="0" rtlCol="0" anchor="ctr"/>
          <a:lstStyle/>
          <a:p>
            <a:pPr marL="0" indent="0">
              <a:buNone/>
            </a:pPr>
            <a:r>
              <a:rPr lang="en-US" sz="1200" dirty="0">
                <a:solidFill>
                  <a:srgbClr val="1B2B34"/>
                </a:solidFill>
                <a:latin typeface="Times New Roman" pitchFamily="34" charset="0"/>
                <a:ea typeface="Times New Roman" pitchFamily="34" charset="-122"/>
                <a:cs typeface="Times New Roman" pitchFamily="34" charset="-120"/>
              </a:rPr>
              <a:t>Danh sách kề (Adjacency List) — dùng cho Dijkstra</a:t>
            </a:r>
            <a:endParaRPr lang="en-US" sz="1200" dirty="0"/>
          </a:p>
        </p:txBody>
      </p:sp>
      <p:sp>
        <p:nvSpPr>
          <p:cNvPr id="10" name="Shape 8"/>
          <p:cNvSpPr/>
          <p:nvPr/>
        </p:nvSpPr>
        <p:spPr>
          <a:xfrm>
            <a:off x="640080" y="4681728"/>
            <a:ext cx="91440" cy="91440"/>
          </a:xfrm>
          <a:prstGeom prst="ellipse">
            <a:avLst/>
          </a:prstGeom>
          <a:solidFill>
            <a:srgbClr val="F0A202"/>
          </a:solidFill>
          <a:ln/>
        </p:spPr>
        <p:txBody>
          <a:bodyPr/>
          <a:lstStyle/>
          <a:p>
            <a:endParaRPr lang="en-US"/>
          </a:p>
        </p:txBody>
      </p:sp>
      <p:sp>
        <p:nvSpPr>
          <p:cNvPr id="11" name="Text 9"/>
          <p:cNvSpPr/>
          <p:nvPr/>
        </p:nvSpPr>
        <p:spPr>
          <a:xfrm>
            <a:off x="859536" y="4599432"/>
            <a:ext cx="4389120" cy="329184"/>
          </a:xfrm>
          <a:prstGeom prst="rect">
            <a:avLst/>
          </a:prstGeom>
          <a:noFill/>
          <a:ln/>
        </p:spPr>
        <p:txBody>
          <a:bodyPr wrap="square" lIns="0" tIns="0" rIns="0" bIns="0" rtlCol="0" anchor="ctr"/>
          <a:lstStyle/>
          <a:p>
            <a:pPr marL="0" indent="0">
              <a:buNone/>
            </a:pPr>
            <a:r>
              <a:rPr lang="en-US" sz="1200" dirty="0">
                <a:solidFill>
                  <a:srgbClr val="1B2B34"/>
                </a:solidFill>
                <a:latin typeface="Times New Roman" pitchFamily="34" charset="0"/>
                <a:ea typeface="Times New Roman" pitchFamily="34" charset="-122"/>
                <a:cs typeface="Times New Roman" pitchFamily="34" charset="-120"/>
              </a:rPr>
              <a:t>Danh sách cạnh (Edge List) — dùng cho Kruskal</a:t>
            </a:r>
            <a:endParaRPr lang="en-US" sz="1200" dirty="0"/>
          </a:p>
        </p:txBody>
      </p:sp>
      <p:sp>
        <p:nvSpPr>
          <p:cNvPr id="12" name="Shape 10"/>
          <p:cNvSpPr/>
          <p:nvPr/>
        </p:nvSpPr>
        <p:spPr>
          <a:xfrm>
            <a:off x="5623560" y="1737360"/>
            <a:ext cx="1691640" cy="3108960"/>
          </a:xfrm>
          <a:prstGeom prst="roundRect">
            <a:avLst>
              <a:gd name="adj" fmla="val 6486"/>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3" name="Text 11"/>
          <p:cNvSpPr/>
          <p:nvPr/>
        </p:nvSpPr>
        <p:spPr>
          <a:xfrm>
            <a:off x="5733288" y="2057400"/>
            <a:ext cx="1472184" cy="868680"/>
          </a:xfrm>
          <a:prstGeom prst="rect">
            <a:avLst/>
          </a:prstGeom>
          <a:noFill/>
          <a:ln/>
        </p:spPr>
        <p:txBody>
          <a:bodyPr wrap="square" lIns="0" tIns="0" rIns="0" bIns="0" rtlCol="0" anchor="ctr"/>
          <a:lstStyle/>
          <a:p>
            <a:pPr marL="0" indent="0" algn="ctr">
              <a:buNone/>
            </a:pPr>
            <a:r>
              <a:rPr lang="en-US" sz="1600" b="1" dirty="0">
                <a:solidFill>
                  <a:srgbClr val="065A82"/>
                </a:solidFill>
                <a:latin typeface="Times New Roman" pitchFamily="34" charset="0"/>
                <a:ea typeface="Times New Roman" pitchFamily="34" charset="-122"/>
                <a:cs typeface="Times New Roman" pitchFamily="34" charset="-120"/>
              </a:rPr>
              <a:t>O((V+E) log V)</a:t>
            </a:r>
            <a:endParaRPr lang="en-US" sz="1600" dirty="0"/>
          </a:p>
        </p:txBody>
      </p:sp>
      <p:sp>
        <p:nvSpPr>
          <p:cNvPr id="14" name="Text 12"/>
          <p:cNvSpPr/>
          <p:nvPr/>
        </p:nvSpPr>
        <p:spPr>
          <a:xfrm>
            <a:off x="5760720" y="3063240"/>
            <a:ext cx="1417320" cy="1554480"/>
          </a:xfrm>
          <a:prstGeom prst="rect">
            <a:avLst/>
          </a:prstGeom>
          <a:noFill/>
          <a:ln/>
        </p:spPr>
        <p:txBody>
          <a:bodyPr wrap="square" lIns="0" tIns="0" rIns="0" bIns="0" rtlCol="0" anchor="t"/>
          <a:lstStyle/>
          <a:p>
            <a:pPr marL="0" indent="0" algn="ctr">
              <a:lnSpc>
                <a:spcPct val="130000"/>
              </a:lnSpc>
              <a:buNone/>
            </a:pPr>
            <a:r>
              <a:rPr lang="en-US" sz="1050" dirty="0">
                <a:solidFill>
                  <a:srgbClr val="6B7C85"/>
                </a:solidFill>
                <a:latin typeface="Times New Roman" pitchFamily="34" charset="0"/>
                <a:ea typeface="Times New Roman" pitchFamily="34" charset="-122"/>
                <a:cs typeface="Times New Roman" pitchFamily="34" charset="-120"/>
              </a:rPr>
              <a:t>Độ phức tạp Dijkstra — dùng min-heap kết hợp danh sách kề</a:t>
            </a:r>
            <a:endParaRPr lang="en-US" sz="1050" dirty="0"/>
          </a:p>
        </p:txBody>
      </p:sp>
      <p:sp>
        <p:nvSpPr>
          <p:cNvPr id="15" name="Shape 13"/>
          <p:cNvSpPr/>
          <p:nvPr/>
        </p:nvSpPr>
        <p:spPr>
          <a:xfrm>
            <a:off x="7479792" y="1737360"/>
            <a:ext cx="1691640" cy="3108960"/>
          </a:xfrm>
          <a:prstGeom prst="roundRect">
            <a:avLst>
              <a:gd name="adj" fmla="val 6486"/>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6" name="Text 14"/>
          <p:cNvSpPr/>
          <p:nvPr/>
        </p:nvSpPr>
        <p:spPr>
          <a:xfrm>
            <a:off x="7589520" y="2057400"/>
            <a:ext cx="1472184" cy="868680"/>
          </a:xfrm>
          <a:prstGeom prst="rect">
            <a:avLst/>
          </a:prstGeom>
          <a:noFill/>
          <a:ln/>
        </p:spPr>
        <p:txBody>
          <a:bodyPr wrap="square" lIns="0" tIns="0" rIns="0" bIns="0" rtlCol="0" anchor="ctr"/>
          <a:lstStyle/>
          <a:p>
            <a:pPr marL="0" indent="0" algn="ctr">
              <a:buNone/>
            </a:pPr>
            <a:r>
              <a:rPr lang="en-US" sz="1600" b="1" dirty="0">
                <a:solidFill>
                  <a:srgbClr val="1C7293"/>
                </a:solidFill>
                <a:latin typeface="Times New Roman" pitchFamily="34" charset="0"/>
                <a:ea typeface="Times New Roman" pitchFamily="34" charset="-122"/>
                <a:cs typeface="Times New Roman" pitchFamily="34" charset="-120"/>
              </a:rPr>
              <a:t>O(E log E)</a:t>
            </a:r>
            <a:endParaRPr lang="en-US" sz="1600" dirty="0"/>
          </a:p>
        </p:txBody>
      </p:sp>
      <p:sp>
        <p:nvSpPr>
          <p:cNvPr id="17" name="Text 15"/>
          <p:cNvSpPr/>
          <p:nvPr/>
        </p:nvSpPr>
        <p:spPr>
          <a:xfrm>
            <a:off x="7616952" y="3063240"/>
            <a:ext cx="1417320" cy="1554480"/>
          </a:xfrm>
          <a:prstGeom prst="rect">
            <a:avLst/>
          </a:prstGeom>
          <a:noFill/>
          <a:ln/>
        </p:spPr>
        <p:txBody>
          <a:bodyPr wrap="square" lIns="0" tIns="0" rIns="0" bIns="0" rtlCol="0" anchor="t"/>
          <a:lstStyle/>
          <a:p>
            <a:pPr marL="0" indent="0" algn="ctr">
              <a:lnSpc>
                <a:spcPct val="130000"/>
              </a:lnSpc>
              <a:buNone/>
            </a:pPr>
            <a:r>
              <a:rPr lang="en-US" sz="1050" dirty="0">
                <a:solidFill>
                  <a:srgbClr val="6B7C85"/>
                </a:solidFill>
                <a:latin typeface="Times New Roman" pitchFamily="34" charset="0"/>
                <a:ea typeface="Times New Roman" pitchFamily="34" charset="-122"/>
                <a:cs typeface="Times New Roman" pitchFamily="34" charset="-120"/>
              </a:rPr>
              <a:t>Độ phức tạp Kruskal — chủ yếu do bước sắp xếp toàn bộ cạnh</a:t>
            </a:r>
            <a:endParaRPr lang="en-US" sz="1050" dirty="0"/>
          </a:p>
        </p:txBody>
      </p:sp>
      <p:sp>
        <p:nvSpPr>
          <p:cNvPr id="18" name="Shape 16"/>
          <p:cNvSpPr/>
          <p:nvPr/>
        </p:nvSpPr>
        <p:spPr>
          <a:xfrm>
            <a:off x="9336024" y="1737360"/>
            <a:ext cx="1691640" cy="3108960"/>
          </a:xfrm>
          <a:prstGeom prst="roundRect">
            <a:avLst>
              <a:gd name="adj" fmla="val 6486"/>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9" name="Text 17"/>
          <p:cNvSpPr/>
          <p:nvPr/>
        </p:nvSpPr>
        <p:spPr>
          <a:xfrm>
            <a:off x="9445752" y="2057400"/>
            <a:ext cx="1472184" cy="868680"/>
          </a:xfrm>
          <a:prstGeom prst="rect">
            <a:avLst/>
          </a:prstGeom>
          <a:noFill/>
          <a:ln/>
        </p:spPr>
        <p:txBody>
          <a:bodyPr wrap="square" lIns="0" tIns="0" rIns="0" bIns="0" rtlCol="0" anchor="ctr"/>
          <a:lstStyle/>
          <a:p>
            <a:pPr marL="0" indent="0" algn="ctr">
              <a:buNone/>
            </a:pPr>
            <a:r>
              <a:rPr lang="en-US" sz="1600" b="1" dirty="0">
                <a:solidFill>
                  <a:srgbClr val="4FD1A5"/>
                </a:solidFill>
                <a:latin typeface="Times New Roman" pitchFamily="34" charset="0"/>
                <a:ea typeface="Times New Roman" pitchFamily="34" charset="-122"/>
                <a:cs typeface="Times New Roman" pitchFamily="34" charset="-120"/>
              </a:rPr>
              <a:t>V − 1</a:t>
            </a:r>
            <a:endParaRPr lang="en-US" sz="1600" dirty="0"/>
          </a:p>
        </p:txBody>
      </p:sp>
      <p:sp>
        <p:nvSpPr>
          <p:cNvPr id="20" name="Text 18"/>
          <p:cNvSpPr/>
          <p:nvPr/>
        </p:nvSpPr>
        <p:spPr>
          <a:xfrm>
            <a:off x="9473184" y="3063240"/>
            <a:ext cx="1417320" cy="1554480"/>
          </a:xfrm>
          <a:prstGeom prst="rect">
            <a:avLst/>
          </a:prstGeom>
          <a:noFill/>
          <a:ln/>
        </p:spPr>
        <p:txBody>
          <a:bodyPr wrap="square" lIns="0" tIns="0" rIns="0" bIns="0" rtlCol="0" anchor="t"/>
          <a:lstStyle/>
          <a:p>
            <a:pPr marL="0" indent="0" algn="ctr">
              <a:lnSpc>
                <a:spcPct val="130000"/>
              </a:lnSpc>
              <a:buNone/>
            </a:pPr>
            <a:r>
              <a:rPr lang="en-US" sz="1050" dirty="0">
                <a:solidFill>
                  <a:srgbClr val="6B7C85"/>
                </a:solidFill>
                <a:latin typeface="Times New Roman" pitchFamily="34" charset="0"/>
                <a:ea typeface="Times New Roman" pitchFamily="34" charset="-122"/>
                <a:cs typeface="Times New Roman" pitchFamily="34" charset="-120"/>
              </a:rPr>
              <a:t>Số cạnh của cây khung nhỏ nhất (MST) nối V đỉnh</a:t>
            </a:r>
            <a:endParaRPr lang="en-US" sz="1050" dirty="0"/>
          </a:p>
        </p:txBody>
      </p:sp>
      <p:sp>
        <p:nvSpPr>
          <p:cNvPr id="21" name="Text 19"/>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22" name="Text 20"/>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Quy trình thuật toán Dijkstra</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Tìm đường đi ngắn nhất từ một đỉnh nguồn đến các đỉnh còn lại</a:t>
            </a:r>
            <a:endParaRPr lang="en-US" sz="1400" dirty="0"/>
          </a:p>
        </p:txBody>
      </p:sp>
      <p:sp>
        <p:nvSpPr>
          <p:cNvPr id="4" name="Shape 2"/>
          <p:cNvSpPr/>
          <p:nvPr/>
        </p:nvSpPr>
        <p:spPr>
          <a:xfrm>
            <a:off x="640080" y="1965960"/>
            <a:ext cx="1944014" cy="2377440"/>
          </a:xfrm>
          <a:prstGeom prst="roundRect">
            <a:avLst>
              <a:gd name="adj" fmla="val 5644"/>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5" name="Shape 3"/>
          <p:cNvSpPr/>
          <p:nvPr/>
        </p:nvSpPr>
        <p:spPr>
          <a:xfrm>
            <a:off x="1301191" y="2194560"/>
            <a:ext cx="621792" cy="621792"/>
          </a:xfrm>
          <a:prstGeom prst="ellipse">
            <a:avLst/>
          </a:prstGeom>
          <a:solidFill>
            <a:srgbClr val="065A82"/>
          </a:solidFill>
          <a:ln/>
        </p:spPr>
        <p:txBody>
          <a:bodyPr/>
          <a:lstStyle/>
          <a:p>
            <a:endParaRPr lang="en-US"/>
          </a:p>
        </p:txBody>
      </p:sp>
      <p:sp>
        <p:nvSpPr>
          <p:cNvPr id="6" name="Text 4"/>
          <p:cNvSpPr/>
          <p:nvPr/>
        </p:nvSpPr>
        <p:spPr>
          <a:xfrm>
            <a:off x="1301191"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7" name="Text 5"/>
          <p:cNvSpPr/>
          <p:nvPr/>
        </p:nvSpPr>
        <p:spPr>
          <a:xfrm>
            <a:off x="713232" y="2944368"/>
            <a:ext cx="1797710"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Khởi tạo</a:t>
            </a:r>
            <a:endParaRPr lang="en-US" sz="1300" dirty="0"/>
          </a:p>
        </p:txBody>
      </p:sp>
      <p:sp>
        <p:nvSpPr>
          <p:cNvPr id="8" name="Text 6"/>
          <p:cNvSpPr/>
          <p:nvPr/>
        </p:nvSpPr>
        <p:spPr>
          <a:xfrm>
            <a:off x="731520" y="3438144"/>
            <a:ext cx="1761134"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dist[nguồn] = 0,</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dist[đỉnh khác] = ∞</a:t>
            </a:r>
            <a:endParaRPr lang="en-US" sz="950" dirty="0"/>
          </a:p>
        </p:txBody>
      </p:sp>
      <p:sp>
        <p:nvSpPr>
          <p:cNvPr id="9" name="Shape 7"/>
          <p:cNvSpPr/>
          <p:nvPr/>
        </p:nvSpPr>
        <p:spPr>
          <a:xfrm>
            <a:off x="2602382" y="3054096"/>
            <a:ext cx="219456" cy="201168"/>
          </a:xfrm>
          <a:prstGeom prst="rightArrow">
            <a:avLst/>
          </a:prstGeom>
          <a:solidFill>
            <a:srgbClr val="B9C6CB"/>
          </a:solidFill>
          <a:ln/>
        </p:spPr>
        <p:txBody>
          <a:bodyPr/>
          <a:lstStyle/>
          <a:p>
            <a:endParaRPr lang="en-US"/>
          </a:p>
        </p:txBody>
      </p:sp>
      <p:sp>
        <p:nvSpPr>
          <p:cNvPr id="10" name="Shape 8"/>
          <p:cNvSpPr/>
          <p:nvPr/>
        </p:nvSpPr>
        <p:spPr>
          <a:xfrm>
            <a:off x="2858414" y="1965960"/>
            <a:ext cx="1944014" cy="2377440"/>
          </a:xfrm>
          <a:prstGeom prst="roundRect">
            <a:avLst>
              <a:gd name="adj" fmla="val 5644"/>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1" name="Shape 9"/>
          <p:cNvSpPr/>
          <p:nvPr/>
        </p:nvSpPr>
        <p:spPr>
          <a:xfrm>
            <a:off x="3519526" y="2194560"/>
            <a:ext cx="621792" cy="621792"/>
          </a:xfrm>
          <a:prstGeom prst="ellipse">
            <a:avLst/>
          </a:prstGeom>
          <a:solidFill>
            <a:srgbClr val="1C7293"/>
          </a:solidFill>
          <a:ln/>
        </p:spPr>
        <p:txBody>
          <a:bodyPr/>
          <a:lstStyle/>
          <a:p>
            <a:endParaRPr lang="en-US"/>
          </a:p>
        </p:txBody>
      </p:sp>
      <p:sp>
        <p:nvSpPr>
          <p:cNvPr id="12" name="Text 10"/>
          <p:cNvSpPr/>
          <p:nvPr/>
        </p:nvSpPr>
        <p:spPr>
          <a:xfrm>
            <a:off x="3519526"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3" name="Text 11"/>
          <p:cNvSpPr/>
          <p:nvPr/>
        </p:nvSpPr>
        <p:spPr>
          <a:xfrm>
            <a:off x="2931566" y="2944368"/>
            <a:ext cx="1797710"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Chọn đỉnh gần nhất</a:t>
            </a:r>
            <a:endParaRPr lang="en-US" sz="1300" dirty="0"/>
          </a:p>
        </p:txBody>
      </p:sp>
      <p:sp>
        <p:nvSpPr>
          <p:cNvPr id="14" name="Text 12"/>
          <p:cNvSpPr/>
          <p:nvPr/>
        </p:nvSpPr>
        <p:spPr>
          <a:xfrm>
            <a:off x="2949854" y="3438144"/>
            <a:ext cx="1761134"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Lấy đỉnh có dist nhỏ</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nhất từ priority queue</a:t>
            </a:r>
            <a:endParaRPr lang="en-US" sz="950" dirty="0"/>
          </a:p>
        </p:txBody>
      </p:sp>
      <p:sp>
        <p:nvSpPr>
          <p:cNvPr id="15" name="Shape 13"/>
          <p:cNvSpPr/>
          <p:nvPr/>
        </p:nvSpPr>
        <p:spPr>
          <a:xfrm>
            <a:off x="4820717" y="3054096"/>
            <a:ext cx="219456" cy="201168"/>
          </a:xfrm>
          <a:prstGeom prst="rightArrow">
            <a:avLst/>
          </a:prstGeom>
          <a:solidFill>
            <a:srgbClr val="B9C6CB"/>
          </a:solidFill>
          <a:ln/>
        </p:spPr>
        <p:txBody>
          <a:bodyPr/>
          <a:lstStyle/>
          <a:p>
            <a:endParaRPr lang="en-US"/>
          </a:p>
        </p:txBody>
      </p:sp>
      <p:sp>
        <p:nvSpPr>
          <p:cNvPr id="16" name="Shape 14"/>
          <p:cNvSpPr/>
          <p:nvPr/>
        </p:nvSpPr>
        <p:spPr>
          <a:xfrm>
            <a:off x="5076749" y="1965960"/>
            <a:ext cx="1944014" cy="2377440"/>
          </a:xfrm>
          <a:prstGeom prst="roundRect">
            <a:avLst>
              <a:gd name="adj" fmla="val 5644"/>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7" name="Shape 15"/>
          <p:cNvSpPr/>
          <p:nvPr/>
        </p:nvSpPr>
        <p:spPr>
          <a:xfrm>
            <a:off x="5737860" y="2194560"/>
            <a:ext cx="621792" cy="621792"/>
          </a:xfrm>
          <a:prstGeom prst="ellipse">
            <a:avLst/>
          </a:prstGeom>
          <a:solidFill>
            <a:srgbClr val="1C7293"/>
          </a:solidFill>
          <a:ln/>
        </p:spPr>
        <p:txBody>
          <a:bodyPr/>
          <a:lstStyle/>
          <a:p>
            <a:endParaRPr lang="en-US"/>
          </a:p>
        </p:txBody>
      </p:sp>
      <p:sp>
        <p:nvSpPr>
          <p:cNvPr id="18" name="Text 16"/>
          <p:cNvSpPr/>
          <p:nvPr/>
        </p:nvSpPr>
        <p:spPr>
          <a:xfrm>
            <a:off x="5737860"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9" name="Text 17"/>
          <p:cNvSpPr/>
          <p:nvPr/>
        </p:nvSpPr>
        <p:spPr>
          <a:xfrm>
            <a:off x="5149901" y="2944368"/>
            <a:ext cx="1797710"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Relaxation</a:t>
            </a:r>
            <a:endParaRPr lang="en-US" sz="1300" dirty="0"/>
          </a:p>
        </p:txBody>
      </p:sp>
      <p:sp>
        <p:nvSpPr>
          <p:cNvPr id="20" name="Text 18"/>
          <p:cNvSpPr/>
          <p:nvPr/>
        </p:nvSpPr>
        <p:spPr>
          <a:xfrm>
            <a:off x="5168189" y="3438144"/>
            <a:ext cx="1761134"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Cập nhật khoảng cách</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các đỉnh kề nếu ngắn hơn</a:t>
            </a:r>
            <a:endParaRPr lang="en-US" sz="950" dirty="0"/>
          </a:p>
        </p:txBody>
      </p:sp>
      <p:sp>
        <p:nvSpPr>
          <p:cNvPr id="21" name="Shape 19"/>
          <p:cNvSpPr/>
          <p:nvPr/>
        </p:nvSpPr>
        <p:spPr>
          <a:xfrm>
            <a:off x="7039051" y="3054096"/>
            <a:ext cx="219456" cy="201168"/>
          </a:xfrm>
          <a:prstGeom prst="rightArrow">
            <a:avLst/>
          </a:prstGeom>
          <a:solidFill>
            <a:srgbClr val="B9C6CB"/>
          </a:solidFill>
          <a:ln/>
        </p:spPr>
        <p:txBody>
          <a:bodyPr/>
          <a:lstStyle/>
          <a:p>
            <a:endParaRPr lang="en-US"/>
          </a:p>
        </p:txBody>
      </p:sp>
      <p:sp>
        <p:nvSpPr>
          <p:cNvPr id="22" name="Shape 20"/>
          <p:cNvSpPr/>
          <p:nvPr/>
        </p:nvSpPr>
        <p:spPr>
          <a:xfrm>
            <a:off x="7295083" y="1965960"/>
            <a:ext cx="1944014" cy="2377440"/>
          </a:xfrm>
          <a:prstGeom prst="roundRect">
            <a:avLst>
              <a:gd name="adj" fmla="val 5644"/>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23" name="Shape 21"/>
          <p:cNvSpPr/>
          <p:nvPr/>
        </p:nvSpPr>
        <p:spPr>
          <a:xfrm>
            <a:off x="7956194" y="2194560"/>
            <a:ext cx="621792" cy="621792"/>
          </a:xfrm>
          <a:prstGeom prst="ellipse">
            <a:avLst/>
          </a:prstGeom>
          <a:solidFill>
            <a:srgbClr val="4FD1A5"/>
          </a:solidFill>
          <a:ln/>
        </p:spPr>
        <p:txBody>
          <a:bodyPr/>
          <a:lstStyle/>
          <a:p>
            <a:endParaRPr lang="en-US"/>
          </a:p>
        </p:txBody>
      </p:sp>
      <p:sp>
        <p:nvSpPr>
          <p:cNvPr id="24" name="Text 22"/>
          <p:cNvSpPr/>
          <p:nvPr/>
        </p:nvSpPr>
        <p:spPr>
          <a:xfrm>
            <a:off x="7956194"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25" name="Text 23"/>
          <p:cNvSpPr/>
          <p:nvPr/>
        </p:nvSpPr>
        <p:spPr>
          <a:xfrm>
            <a:off x="7368235" y="2944368"/>
            <a:ext cx="1797710"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Đánh dấu hoàn tất</a:t>
            </a:r>
            <a:endParaRPr lang="en-US" sz="1300" dirty="0"/>
          </a:p>
        </p:txBody>
      </p:sp>
      <p:sp>
        <p:nvSpPr>
          <p:cNvPr id="26" name="Text 24"/>
          <p:cNvSpPr/>
          <p:nvPr/>
        </p:nvSpPr>
        <p:spPr>
          <a:xfrm>
            <a:off x="7386523" y="3438144"/>
            <a:ext cx="1761134"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Đánh dấu đỉnh đã xét</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(visited = true)</a:t>
            </a:r>
            <a:endParaRPr lang="en-US" sz="950" dirty="0"/>
          </a:p>
        </p:txBody>
      </p:sp>
      <p:sp>
        <p:nvSpPr>
          <p:cNvPr id="27" name="Shape 25"/>
          <p:cNvSpPr/>
          <p:nvPr/>
        </p:nvSpPr>
        <p:spPr>
          <a:xfrm>
            <a:off x="9257386" y="3054096"/>
            <a:ext cx="219456" cy="201168"/>
          </a:xfrm>
          <a:prstGeom prst="rightArrow">
            <a:avLst/>
          </a:prstGeom>
          <a:solidFill>
            <a:srgbClr val="B9C6CB"/>
          </a:solidFill>
          <a:ln/>
        </p:spPr>
        <p:txBody>
          <a:bodyPr/>
          <a:lstStyle/>
          <a:p>
            <a:endParaRPr lang="en-US"/>
          </a:p>
        </p:txBody>
      </p:sp>
      <p:sp>
        <p:nvSpPr>
          <p:cNvPr id="28" name="Shape 26"/>
          <p:cNvSpPr/>
          <p:nvPr/>
        </p:nvSpPr>
        <p:spPr>
          <a:xfrm>
            <a:off x="9513418" y="1965960"/>
            <a:ext cx="1944014" cy="2377440"/>
          </a:xfrm>
          <a:prstGeom prst="roundRect">
            <a:avLst>
              <a:gd name="adj" fmla="val 5644"/>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29" name="Shape 27"/>
          <p:cNvSpPr/>
          <p:nvPr/>
        </p:nvSpPr>
        <p:spPr>
          <a:xfrm>
            <a:off x="10174529" y="2194560"/>
            <a:ext cx="621792" cy="621792"/>
          </a:xfrm>
          <a:prstGeom prst="ellipse">
            <a:avLst/>
          </a:prstGeom>
          <a:solidFill>
            <a:srgbClr val="F0A202"/>
          </a:solidFill>
          <a:ln/>
        </p:spPr>
        <p:txBody>
          <a:bodyPr/>
          <a:lstStyle/>
          <a:p>
            <a:endParaRPr lang="en-US"/>
          </a:p>
        </p:txBody>
      </p:sp>
      <p:sp>
        <p:nvSpPr>
          <p:cNvPr id="30" name="Text 28"/>
          <p:cNvSpPr/>
          <p:nvPr/>
        </p:nvSpPr>
        <p:spPr>
          <a:xfrm>
            <a:off x="1017452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5</a:t>
            </a:r>
            <a:endParaRPr lang="en-US" sz="2000" dirty="0"/>
          </a:p>
        </p:txBody>
      </p:sp>
      <p:sp>
        <p:nvSpPr>
          <p:cNvPr id="31" name="Text 29"/>
          <p:cNvSpPr/>
          <p:nvPr/>
        </p:nvSpPr>
        <p:spPr>
          <a:xfrm>
            <a:off x="9586570" y="2944368"/>
            <a:ext cx="1797710"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Lặp lại</a:t>
            </a:r>
            <a:endParaRPr lang="en-US" sz="1300" dirty="0"/>
          </a:p>
        </p:txBody>
      </p:sp>
      <p:sp>
        <p:nvSpPr>
          <p:cNvPr id="32" name="Text 30"/>
          <p:cNvSpPr/>
          <p:nvPr/>
        </p:nvSpPr>
        <p:spPr>
          <a:xfrm>
            <a:off x="9604858" y="3438144"/>
            <a:ext cx="1761134"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Tiếp tục đến khi</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xét hết các đỉnh</a:t>
            </a:r>
            <a:endParaRPr lang="en-US" sz="950" dirty="0"/>
          </a:p>
        </p:txBody>
      </p:sp>
      <p:sp>
        <p:nvSpPr>
          <p:cNvPr id="33" name="Text 31"/>
          <p:cNvSpPr/>
          <p:nvPr/>
        </p:nvSpPr>
        <p:spPr>
          <a:xfrm>
            <a:off x="640080" y="4617720"/>
            <a:ext cx="10881360" cy="502920"/>
          </a:xfrm>
          <a:prstGeom prst="rect">
            <a:avLst/>
          </a:prstGeom>
          <a:noFill/>
          <a:ln/>
        </p:spPr>
        <p:txBody>
          <a:bodyPr wrap="square" lIns="0" tIns="0" rIns="0" bIns="0" rtlCol="0" anchor="ctr"/>
          <a:lstStyle/>
          <a:p>
            <a:pPr marL="0" indent="0">
              <a:lnSpc>
                <a:spcPct val="130000"/>
              </a:lnSpc>
              <a:buNone/>
            </a:pPr>
            <a:r>
              <a:rPr lang="en-US" sz="1250" i="1" dirty="0">
                <a:solidFill>
                  <a:srgbClr val="1C7293"/>
                </a:solidFill>
                <a:latin typeface="Times New Roman" pitchFamily="34" charset="0"/>
                <a:ea typeface="Times New Roman" pitchFamily="34" charset="-122"/>
                <a:cs typeface="Times New Roman" pitchFamily="34" charset="-120"/>
              </a:rPr>
              <a:t>Luồng xử lý: Khởi tạo  →  Chọn đỉnh gần nhất  →  Relaxation  →  Đánh dấu hoàn tất  →  Lặp lại. Độ phức tạp: O((V + E) log V).</a:t>
            </a:r>
            <a:endParaRPr lang="en-US" sz="1250" dirty="0"/>
          </a:p>
        </p:txBody>
      </p:sp>
      <p:sp>
        <p:nvSpPr>
          <p:cNvPr id="34" name="Text 32"/>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35" name="Text 3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Quy trình thuật toán Kruskal</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Tìm cây khung nhỏ nhất (MST) để tối ưu chi phí xây dựng mạng</a:t>
            </a:r>
            <a:endParaRPr lang="en-US" sz="1400" dirty="0"/>
          </a:p>
        </p:txBody>
      </p:sp>
      <p:sp>
        <p:nvSpPr>
          <p:cNvPr id="4" name="Shape 2"/>
          <p:cNvSpPr/>
          <p:nvPr/>
        </p:nvSpPr>
        <p:spPr>
          <a:xfrm>
            <a:off x="64008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5" name="Shape 3"/>
          <p:cNvSpPr/>
          <p:nvPr/>
        </p:nvSpPr>
        <p:spPr>
          <a:xfrm>
            <a:off x="1580769" y="2194560"/>
            <a:ext cx="621792" cy="621792"/>
          </a:xfrm>
          <a:prstGeom prst="ellipse">
            <a:avLst/>
          </a:prstGeom>
          <a:solidFill>
            <a:srgbClr val="F0A202"/>
          </a:solidFill>
          <a:ln/>
        </p:spPr>
        <p:txBody>
          <a:bodyPr/>
          <a:lstStyle/>
          <a:p>
            <a:endParaRPr lang="en-US"/>
          </a:p>
        </p:txBody>
      </p:sp>
      <p:sp>
        <p:nvSpPr>
          <p:cNvPr id="6" name="Text 4"/>
          <p:cNvSpPr/>
          <p:nvPr/>
        </p:nvSpPr>
        <p:spPr>
          <a:xfrm>
            <a:off x="158076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7" name="Text 5"/>
          <p:cNvSpPr/>
          <p:nvPr/>
        </p:nvSpPr>
        <p:spPr>
          <a:xfrm>
            <a:off x="71323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Sắp xếp cạnh</a:t>
            </a:r>
            <a:endParaRPr lang="en-US" sz="1300" dirty="0"/>
          </a:p>
        </p:txBody>
      </p:sp>
      <p:sp>
        <p:nvSpPr>
          <p:cNvPr id="8" name="Text 6"/>
          <p:cNvSpPr/>
          <p:nvPr/>
        </p:nvSpPr>
        <p:spPr>
          <a:xfrm>
            <a:off x="731520" y="3438144"/>
            <a:ext cx="2320290"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Sắp xếp toàn bộ cạnh</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theo trọng số tăng dần</a:t>
            </a:r>
            <a:endParaRPr lang="en-US" sz="950" dirty="0"/>
          </a:p>
        </p:txBody>
      </p:sp>
      <p:sp>
        <p:nvSpPr>
          <p:cNvPr id="9" name="Shape 7"/>
          <p:cNvSpPr/>
          <p:nvPr/>
        </p:nvSpPr>
        <p:spPr>
          <a:xfrm>
            <a:off x="3161538" y="3054096"/>
            <a:ext cx="219456" cy="201168"/>
          </a:xfrm>
          <a:prstGeom prst="rightArrow">
            <a:avLst/>
          </a:prstGeom>
          <a:solidFill>
            <a:srgbClr val="B9C6CB"/>
          </a:solidFill>
          <a:ln/>
        </p:spPr>
        <p:txBody>
          <a:bodyPr/>
          <a:lstStyle/>
          <a:p>
            <a:endParaRPr lang="en-US"/>
          </a:p>
        </p:txBody>
      </p:sp>
      <p:sp>
        <p:nvSpPr>
          <p:cNvPr id="10" name="Shape 8"/>
          <p:cNvSpPr/>
          <p:nvPr/>
        </p:nvSpPr>
        <p:spPr>
          <a:xfrm>
            <a:off x="341757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1" name="Shape 9"/>
          <p:cNvSpPr/>
          <p:nvPr/>
        </p:nvSpPr>
        <p:spPr>
          <a:xfrm>
            <a:off x="4358259" y="2194560"/>
            <a:ext cx="621792" cy="621792"/>
          </a:xfrm>
          <a:prstGeom prst="ellipse">
            <a:avLst/>
          </a:prstGeom>
          <a:solidFill>
            <a:srgbClr val="F0A202"/>
          </a:solidFill>
          <a:ln/>
        </p:spPr>
        <p:txBody>
          <a:bodyPr/>
          <a:lstStyle/>
          <a:p>
            <a:endParaRPr lang="en-US"/>
          </a:p>
        </p:txBody>
      </p:sp>
      <p:sp>
        <p:nvSpPr>
          <p:cNvPr id="12" name="Text 10"/>
          <p:cNvSpPr/>
          <p:nvPr/>
        </p:nvSpPr>
        <p:spPr>
          <a:xfrm>
            <a:off x="435825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3" name="Text 11"/>
          <p:cNvSpPr/>
          <p:nvPr/>
        </p:nvSpPr>
        <p:spPr>
          <a:xfrm>
            <a:off x="349072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Duyệt từng cạnh</a:t>
            </a:r>
            <a:endParaRPr lang="en-US" sz="1300" dirty="0"/>
          </a:p>
        </p:txBody>
      </p:sp>
      <p:sp>
        <p:nvSpPr>
          <p:cNvPr id="14" name="Text 12"/>
          <p:cNvSpPr/>
          <p:nvPr/>
        </p:nvSpPr>
        <p:spPr>
          <a:xfrm>
            <a:off x="3509010" y="3438144"/>
            <a:ext cx="2320290"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Xét lần lượt các cạnh</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theo thứ tự đã sắp xếp</a:t>
            </a:r>
            <a:endParaRPr lang="en-US" sz="950" dirty="0"/>
          </a:p>
        </p:txBody>
      </p:sp>
      <p:sp>
        <p:nvSpPr>
          <p:cNvPr id="15" name="Shape 13"/>
          <p:cNvSpPr/>
          <p:nvPr/>
        </p:nvSpPr>
        <p:spPr>
          <a:xfrm>
            <a:off x="5939028" y="3054096"/>
            <a:ext cx="219456" cy="201168"/>
          </a:xfrm>
          <a:prstGeom prst="rightArrow">
            <a:avLst/>
          </a:prstGeom>
          <a:solidFill>
            <a:srgbClr val="B9C6CB"/>
          </a:solidFill>
          <a:ln/>
        </p:spPr>
        <p:txBody>
          <a:bodyPr/>
          <a:lstStyle/>
          <a:p>
            <a:endParaRPr lang="en-US"/>
          </a:p>
        </p:txBody>
      </p:sp>
      <p:sp>
        <p:nvSpPr>
          <p:cNvPr id="16" name="Shape 14"/>
          <p:cNvSpPr/>
          <p:nvPr/>
        </p:nvSpPr>
        <p:spPr>
          <a:xfrm>
            <a:off x="619506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7" name="Shape 15"/>
          <p:cNvSpPr/>
          <p:nvPr/>
        </p:nvSpPr>
        <p:spPr>
          <a:xfrm>
            <a:off x="7135749" y="2194560"/>
            <a:ext cx="621792" cy="621792"/>
          </a:xfrm>
          <a:prstGeom prst="ellipse">
            <a:avLst/>
          </a:prstGeom>
          <a:solidFill>
            <a:srgbClr val="4FD1A5"/>
          </a:solidFill>
          <a:ln/>
        </p:spPr>
        <p:txBody>
          <a:bodyPr/>
          <a:lstStyle/>
          <a:p>
            <a:endParaRPr lang="en-US"/>
          </a:p>
        </p:txBody>
      </p:sp>
      <p:sp>
        <p:nvSpPr>
          <p:cNvPr id="18" name="Text 16"/>
          <p:cNvSpPr/>
          <p:nvPr/>
        </p:nvSpPr>
        <p:spPr>
          <a:xfrm>
            <a:off x="713574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9" name="Text 17"/>
          <p:cNvSpPr/>
          <p:nvPr/>
        </p:nvSpPr>
        <p:spPr>
          <a:xfrm>
            <a:off x="626821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Kiểm tra chu trình</a:t>
            </a:r>
            <a:endParaRPr lang="en-US" sz="1300" dirty="0"/>
          </a:p>
        </p:txBody>
      </p:sp>
      <p:sp>
        <p:nvSpPr>
          <p:cNvPr id="20" name="Text 18"/>
          <p:cNvSpPr/>
          <p:nvPr/>
        </p:nvSpPr>
        <p:spPr>
          <a:xfrm>
            <a:off x="6286500" y="3438144"/>
            <a:ext cx="2320290"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Dùng Union-Find (DSU)</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để kiểm tra chu trình</a:t>
            </a:r>
            <a:endParaRPr lang="en-US" sz="950" dirty="0"/>
          </a:p>
        </p:txBody>
      </p:sp>
      <p:sp>
        <p:nvSpPr>
          <p:cNvPr id="21" name="Shape 19"/>
          <p:cNvSpPr/>
          <p:nvPr/>
        </p:nvSpPr>
        <p:spPr>
          <a:xfrm>
            <a:off x="8716518" y="3054096"/>
            <a:ext cx="219456" cy="201168"/>
          </a:xfrm>
          <a:prstGeom prst="rightArrow">
            <a:avLst/>
          </a:prstGeom>
          <a:solidFill>
            <a:srgbClr val="B9C6CB"/>
          </a:solidFill>
          <a:ln/>
        </p:spPr>
        <p:txBody>
          <a:bodyPr/>
          <a:lstStyle/>
          <a:p>
            <a:endParaRPr lang="en-US"/>
          </a:p>
        </p:txBody>
      </p:sp>
      <p:sp>
        <p:nvSpPr>
          <p:cNvPr id="22" name="Shape 20"/>
          <p:cNvSpPr/>
          <p:nvPr/>
        </p:nvSpPr>
        <p:spPr>
          <a:xfrm>
            <a:off x="897255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23" name="Shape 21"/>
          <p:cNvSpPr/>
          <p:nvPr/>
        </p:nvSpPr>
        <p:spPr>
          <a:xfrm>
            <a:off x="9913239" y="2194560"/>
            <a:ext cx="621792" cy="621792"/>
          </a:xfrm>
          <a:prstGeom prst="ellipse">
            <a:avLst/>
          </a:prstGeom>
          <a:solidFill>
            <a:srgbClr val="1C7293"/>
          </a:solidFill>
          <a:ln/>
        </p:spPr>
        <p:txBody>
          <a:bodyPr/>
          <a:lstStyle/>
          <a:p>
            <a:endParaRPr lang="en-US"/>
          </a:p>
        </p:txBody>
      </p:sp>
      <p:sp>
        <p:nvSpPr>
          <p:cNvPr id="24" name="Text 22"/>
          <p:cNvSpPr/>
          <p:nvPr/>
        </p:nvSpPr>
        <p:spPr>
          <a:xfrm>
            <a:off x="991323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25" name="Text 23"/>
          <p:cNvSpPr/>
          <p:nvPr/>
        </p:nvSpPr>
        <p:spPr>
          <a:xfrm>
            <a:off x="904570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Chọn cạnh &amp; dừng</a:t>
            </a:r>
            <a:endParaRPr lang="en-US" sz="1300" dirty="0"/>
          </a:p>
        </p:txBody>
      </p:sp>
      <p:sp>
        <p:nvSpPr>
          <p:cNvPr id="26" name="Text 24"/>
          <p:cNvSpPr/>
          <p:nvPr/>
        </p:nvSpPr>
        <p:spPr>
          <a:xfrm>
            <a:off x="9063990" y="3438144"/>
            <a:ext cx="2320290" cy="905256"/>
          </a:xfrm>
          <a:prstGeom prst="rect">
            <a:avLst/>
          </a:prstGeom>
          <a:noFill/>
          <a:ln/>
        </p:spPr>
        <p:txBody>
          <a:bodyPr wrap="square" lIns="0" tIns="0" rIns="0" bIns="0" rtlCol="0" anchor="t"/>
          <a:lstStyle/>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Chọn nếu không tạo chu trình,</a:t>
            </a:r>
            <a:endParaRPr lang="en-US" sz="950" dirty="0"/>
          </a:p>
          <a:p>
            <a:pPr marL="0" indent="0" algn="ctr">
              <a:lnSpc>
                <a:spcPct val="115000"/>
              </a:lnSpc>
              <a:buNone/>
            </a:pPr>
            <a:r>
              <a:rPr lang="en-US" sz="950" dirty="0">
                <a:solidFill>
                  <a:srgbClr val="6B7C85"/>
                </a:solidFill>
                <a:latin typeface="Times New Roman" pitchFamily="34" charset="0"/>
                <a:ea typeface="Times New Roman" pitchFamily="34" charset="-122"/>
                <a:cs typeface="Times New Roman" pitchFamily="34" charset="-120"/>
              </a:rPr>
              <a:t>dừng khi đủ (V−1) cạnh</a:t>
            </a:r>
            <a:endParaRPr lang="en-US" sz="950" dirty="0"/>
          </a:p>
        </p:txBody>
      </p:sp>
      <p:sp>
        <p:nvSpPr>
          <p:cNvPr id="27" name="Text 25"/>
          <p:cNvSpPr/>
          <p:nvPr/>
        </p:nvSpPr>
        <p:spPr>
          <a:xfrm>
            <a:off x="640080" y="4617720"/>
            <a:ext cx="10881360" cy="502920"/>
          </a:xfrm>
          <a:prstGeom prst="rect">
            <a:avLst/>
          </a:prstGeom>
          <a:noFill/>
          <a:ln/>
        </p:spPr>
        <p:txBody>
          <a:bodyPr wrap="square" lIns="0" tIns="0" rIns="0" bIns="0" rtlCol="0" anchor="ctr"/>
          <a:lstStyle/>
          <a:p>
            <a:pPr marL="0" indent="0">
              <a:lnSpc>
                <a:spcPct val="130000"/>
              </a:lnSpc>
              <a:buNone/>
            </a:pPr>
            <a:r>
              <a:rPr lang="en-US" sz="1250" i="1" dirty="0">
                <a:solidFill>
                  <a:srgbClr val="1C7293"/>
                </a:solidFill>
                <a:latin typeface="Times New Roman" pitchFamily="34" charset="0"/>
                <a:ea typeface="Times New Roman" pitchFamily="34" charset="-122"/>
                <a:cs typeface="Times New Roman" pitchFamily="34" charset="-120"/>
              </a:rPr>
              <a:t>Luồng xử lý: Sắp xếp cạnh  →  Duyệt từng cạnh  →  Kiểm tra chu trình (Union-Find)  →  Chọn cạnh &amp; dừng. Độ phức tạp: O(E log E).</a:t>
            </a:r>
            <a:endParaRPr lang="en-US" sz="1250" dirty="0"/>
          </a:p>
        </p:txBody>
      </p:sp>
      <p:sp>
        <p:nvSpPr>
          <p:cNvPr id="28" name="Text 26"/>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29" name="Text 27"/>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Minh họa trực quan</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Cùng một đồ thị mạng — hai kết quả khác nhau tùy theo thuật toán áp dụng</a:t>
            </a:r>
            <a:endParaRPr lang="en-US" sz="1400" dirty="0"/>
          </a:p>
        </p:txBody>
      </p:sp>
      <p:sp>
        <p:nvSpPr>
          <p:cNvPr id="4" name="Shape 2"/>
          <p:cNvSpPr/>
          <p:nvPr/>
        </p:nvSpPr>
        <p:spPr>
          <a:xfrm>
            <a:off x="640080" y="1920240"/>
            <a:ext cx="5257800" cy="3794760"/>
          </a:xfrm>
          <a:prstGeom prst="roundRect">
            <a:avLst>
              <a:gd name="adj" fmla="val 2892"/>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5" name="Text 3"/>
          <p:cNvSpPr/>
          <p:nvPr/>
        </p:nvSpPr>
        <p:spPr>
          <a:xfrm>
            <a:off x="914400" y="2103120"/>
            <a:ext cx="4709160" cy="320040"/>
          </a:xfrm>
          <a:prstGeom prst="rect">
            <a:avLst/>
          </a:prstGeom>
          <a:noFill/>
          <a:ln/>
        </p:spPr>
        <p:txBody>
          <a:bodyPr wrap="square" lIns="0" tIns="0" rIns="0" bIns="0" rtlCol="0" anchor="ctr"/>
          <a:lstStyle/>
          <a:p>
            <a:pPr marL="0" indent="0">
              <a:buNone/>
            </a:pPr>
            <a:r>
              <a:rPr lang="en-US" sz="1250" b="1" dirty="0">
                <a:solidFill>
                  <a:srgbClr val="1B2B34"/>
                </a:solidFill>
                <a:latin typeface="Times New Roman" pitchFamily="34" charset="0"/>
                <a:ea typeface="Times New Roman" pitchFamily="34" charset="-122"/>
                <a:cs typeface="Times New Roman" pitchFamily="34" charset="-120"/>
              </a:rPr>
              <a:t>Kết quả Dijkstra — đường đi ngắn nhất A → E</a:t>
            </a:r>
            <a:endParaRPr lang="en-US" sz="1250" dirty="0"/>
          </a:p>
        </p:txBody>
      </p:sp>
      <p:sp>
        <p:nvSpPr>
          <p:cNvPr id="6" name="Shape 4"/>
          <p:cNvSpPr/>
          <p:nvPr/>
        </p:nvSpPr>
        <p:spPr>
          <a:xfrm>
            <a:off x="1508760" y="2926080"/>
            <a:ext cx="3017520" cy="9144"/>
          </a:xfrm>
          <a:prstGeom prst="line">
            <a:avLst/>
          </a:prstGeom>
          <a:noFill/>
          <a:ln w="19050">
            <a:solidFill>
              <a:srgbClr val="C7D1D5"/>
            </a:solidFill>
            <a:prstDash val="solid"/>
          </a:ln>
        </p:spPr>
        <p:txBody>
          <a:bodyPr/>
          <a:lstStyle/>
          <a:p>
            <a:endParaRPr lang="en-US"/>
          </a:p>
        </p:txBody>
      </p:sp>
      <p:sp>
        <p:nvSpPr>
          <p:cNvPr id="7" name="Shape 5"/>
          <p:cNvSpPr/>
          <p:nvPr/>
        </p:nvSpPr>
        <p:spPr>
          <a:xfrm>
            <a:off x="2871216" y="281635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8" name="Text 6"/>
          <p:cNvSpPr/>
          <p:nvPr/>
        </p:nvSpPr>
        <p:spPr>
          <a:xfrm>
            <a:off x="2871216" y="281635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4</a:t>
            </a:r>
            <a:endParaRPr lang="en-US" sz="900" dirty="0"/>
          </a:p>
        </p:txBody>
      </p:sp>
      <p:sp>
        <p:nvSpPr>
          <p:cNvPr id="9" name="Shape 7"/>
          <p:cNvSpPr/>
          <p:nvPr/>
        </p:nvSpPr>
        <p:spPr>
          <a:xfrm>
            <a:off x="1508760" y="2926080"/>
            <a:ext cx="1508760" cy="1097280"/>
          </a:xfrm>
          <a:prstGeom prst="line">
            <a:avLst/>
          </a:prstGeom>
          <a:noFill/>
          <a:ln w="38100">
            <a:solidFill>
              <a:srgbClr val="1C7293"/>
            </a:solidFill>
            <a:prstDash val="solid"/>
          </a:ln>
        </p:spPr>
        <p:txBody>
          <a:bodyPr/>
          <a:lstStyle/>
          <a:p>
            <a:endParaRPr lang="en-US"/>
          </a:p>
        </p:txBody>
      </p:sp>
      <p:sp>
        <p:nvSpPr>
          <p:cNvPr id="10" name="Shape 8"/>
          <p:cNvSpPr/>
          <p:nvPr/>
        </p:nvSpPr>
        <p:spPr>
          <a:xfrm>
            <a:off x="2116836" y="336499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11" name="Text 9"/>
          <p:cNvSpPr/>
          <p:nvPr/>
        </p:nvSpPr>
        <p:spPr>
          <a:xfrm>
            <a:off x="2116836" y="336499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2</a:t>
            </a:r>
            <a:endParaRPr lang="en-US" sz="900" dirty="0"/>
          </a:p>
        </p:txBody>
      </p:sp>
      <p:sp>
        <p:nvSpPr>
          <p:cNvPr id="12" name="Shape 10"/>
          <p:cNvSpPr/>
          <p:nvPr/>
        </p:nvSpPr>
        <p:spPr>
          <a:xfrm flipV="1">
            <a:off x="3017520" y="2926080"/>
            <a:ext cx="1508760" cy="1097280"/>
          </a:xfrm>
          <a:prstGeom prst="line">
            <a:avLst/>
          </a:prstGeom>
          <a:noFill/>
          <a:ln w="19050">
            <a:solidFill>
              <a:srgbClr val="C7D1D5"/>
            </a:solidFill>
            <a:prstDash val="solid"/>
          </a:ln>
        </p:spPr>
        <p:txBody>
          <a:bodyPr/>
          <a:lstStyle/>
          <a:p>
            <a:endParaRPr lang="en-US"/>
          </a:p>
        </p:txBody>
      </p:sp>
      <p:sp>
        <p:nvSpPr>
          <p:cNvPr id="13" name="Shape 11"/>
          <p:cNvSpPr/>
          <p:nvPr/>
        </p:nvSpPr>
        <p:spPr>
          <a:xfrm>
            <a:off x="3625596" y="336499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14" name="Text 12"/>
          <p:cNvSpPr/>
          <p:nvPr/>
        </p:nvSpPr>
        <p:spPr>
          <a:xfrm>
            <a:off x="3625596" y="336499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1</a:t>
            </a:r>
            <a:endParaRPr lang="en-US" sz="900" dirty="0"/>
          </a:p>
        </p:txBody>
      </p:sp>
      <p:sp>
        <p:nvSpPr>
          <p:cNvPr id="15" name="Shape 13"/>
          <p:cNvSpPr/>
          <p:nvPr/>
        </p:nvSpPr>
        <p:spPr>
          <a:xfrm flipV="1">
            <a:off x="4251960" y="2926080"/>
            <a:ext cx="274320" cy="2194560"/>
          </a:xfrm>
          <a:prstGeom prst="line">
            <a:avLst/>
          </a:prstGeom>
          <a:noFill/>
          <a:ln w="19050">
            <a:solidFill>
              <a:srgbClr val="C7D1D5"/>
            </a:solidFill>
            <a:prstDash val="solid"/>
          </a:ln>
        </p:spPr>
        <p:txBody>
          <a:bodyPr/>
          <a:lstStyle/>
          <a:p>
            <a:endParaRPr lang="en-US"/>
          </a:p>
        </p:txBody>
      </p:sp>
      <p:sp>
        <p:nvSpPr>
          <p:cNvPr id="16" name="Shape 14"/>
          <p:cNvSpPr/>
          <p:nvPr/>
        </p:nvSpPr>
        <p:spPr>
          <a:xfrm>
            <a:off x="4242816" y="391363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17" name="Text 15"/>
          <p:cNvSpPr/>
          <p:nvPr/>
        </p:nvSpPr>
        <p:spPr>
          <a:xfrm>
            <a:off x="4242816" y="391363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5</a:t>
            </a:r>
            <a:endParaRPr lang="en-US" sz="900" dirty="0"/>
          </a:p>
        </p:txBody>
      </p:sp>
      <p:sp>
        <p:nvSpPr>
          <p:cNvPr id="18" name="Shape 16"/>
          <p:cNvSpPr/>
          <p:nvPr/>
        </p:nvSpPr>
        <p:spPr>
          <a:xfrm flipV="1">
            <a:off x="1783080" y="4023360"/>
            <a:ext cx="1234440" cy="1097280"/>
          </a:xfrm>
          <a:prstGeom prst="line">
            <a:avLst/>
          </a:prstGeom>
          <a:noFill/>
          <a:ln w="19050">
            <a:solidFill>
              <a:srgbClr val="C7D1D5"/>
            </a:solidFill>
            <a:prstDash val="solid"/>
          </a:ln>
        </p:spPr>
        <p:txBody>
          <a:bodyPr/>
          <a:lstStyle/>
          <a:p>
            <a:endParaRPr lang="en-US"/>
          </a:p>
        </p:txBody>
      </p:sp>
      <p:sp>
        <p:nvSpPr>
          <p:cNvPr id="19" name="Shape 17"/>
          <p:cNvSpPr/>
          <p:nvPr/>
        </p:nvSpPr>
        <p:spPr>
          <a:xfrm>
            <a:off x="2253996" y="446227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20" name="Text 18"/>
          <p:cNvSpPr/>
          <p:nvPr/>
        </p:nvSpPr>
        <p:spPr>
          <a:xfrm>
            <a:off x="2253996" y="446227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3</a:t>
            </a:r>
            <a:endParaRPr lang="en-US" sz="900" dirty="0"/>
          </a:p>
        </p:txBody>
      </p:sp>
      <p:sp>
        <p:nvSpPr>
          <p:cNvPr id="21" name="Shape 19"/>
          <p:cNvSpPr/>
          <p:nvPr/>
        </p:nvSpPr>
        <p:spPr>
          <a:xfrm>
            <a:off x="3017520" y="4023360"/>
            <a:ext cx="1234440" cy="1097280"/>
          </a:xfrm>
          <a:prstGeom prst="line">
            <a:avLst/>
          </a:prstGeom>
          <a:noFill/>
          <a:ln w="38100">
            <a:solidFill>
              <a:srgbClr val="1C7293"/>
            </a:solidFill>
            <a:prstDash val="solid"/>
          </a:ln>
        </p:spPr>
        <p:txBody>
          <a:bodyPr/>
          <a:lstStyle/>
          <a:p>
            <a:endParaRPr lang="en-US"/>
          </a:p>
        </p:txBody>
      </p:sp>
      <p:sp>
        <p:nvSpPr>
          <p:cNvPr id="22" name="Shape 20"/>
          <p:cNvSpPr/>
          <p:nvPr/>
        </p:nvSpPr>
        <p:spPr>
          <a:xfrm>
            <a:off x="3488436" y="446227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23" name="Text 21"/>
          <p:cNvSpPr/>
          <p:nvPr/>
        </p:nvSpPr>
        <p:spPr>
          <a:xfrm>
            <a:off x="3488436" y="446227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4</a:t>
            </a:r>
            <a:endParaRPr lang="en-US" sz="900" dirty="0"/>
          </a:p>
        </p:txBody>
      </p:sp>
      <p:sp>
        <p:nvSpPr>
          <p:cNvPr id="24" name="Shape 22"/>
          <p:cNvSpPr/>
          <p:nvPr/>
        </p:nvSpPr>
        <p:spPr>
          <a:xfrm>
            <a:off x="1783080" y="5120640"/>
            <a:ext cx="2468880" cy="9144"/>
          </a:xfrm>
          <a:prstGeom prst="line">
            <a:avLst/>
          </a:prstGeom>
          <a:noFill/>
          <a:ln w="19050">
            <a:solidFill>
              <a:srgbClr val="C7D1D5"/>
            </a:solidFill>
            <a:prstDash val="solid"/>
          </a:ln>
        </p:spPr>
        <p:txBody>
          <a:bodyPr/>
          <a:lstStyle/>
          <a:p>
            <a:endParaRPr lang="en-US"/>
          </a:p>
        </p:txBody>
      </p:sp>
      <p:sp>
        <p:nvSpPr>
          <p:cNvPr id="25" name="Shape 23"/>
          <p:cNvSpPr/>
          <p:nvPr/>
        </p:nvSpPr>
        <p:spPr>
          <a:xfrm>
            <a:off x="2871216" y="501091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26" name="Text 24"/>
          <p:cNvSpPr/>
          <p:nvPr/>
        </p:nvSpPr>
        <p:spPr>
          <a:xfrm>
            <a:off x="2871216" y="501091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2</a:t>
            </a:r>
            <a:endParaRPr lang="en-US" sz="900" dirty="0"/>
          </a:p>
        </p:txBody>
      </p:sp>
      <p:sp>
        <p:nvSpPr>
          <p:cNvPr id="27" name="Shape 25"/>
          <p:cNvSpPr/>
          <p:nvPr/>
        </p:nvSpPr>
        <p:spPr>
          <a:xfrm>
            <a:off x="1289304" y="2706624"/>
            <a:ext cx="438912" cy="438912"/>
          </a:xfrm>
          <a:prstGeom prst="ellipse">
            <a:avLst/>
          </a:prstGeom>
          <a:solidFill>
            <a:srgbClr val="1C7293"/>
          </a:solidFill>
          <a:ln w="19050">
            <a:solidFill>
              <a:srgbClr val="FFFFFF"/>
            </a:solidFill>
            <a:prstDash val="solid"/>
          </a:ln>
        </p:spPr>
        <p:txBody>
          <a:bodyPr/>
          <a:lstStyle/>
          <a:p>
            <a:endParaRPr lang="en-US"/>
          </a:p>
        </p:txBody>
      </p:sp>
      <p:sp>
        <p:nvSpPr>
          <p:cNvPr id="28" name="Text 26"/>
          <p:cNvSpPr/>
          <p:nvPr/>
        </p:nvSpPr>
        <p:spPr>
          <a:xfrm>
            <a:off x="1289304" y="27066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a:t>
            </a:r>
            <a:endParaRPr lang="en-US" sz="1200" dirty="0"/>
          </a:p>
        </p:txBody>
      </p:sp>
      <p:sp>
        <p:nvSpPr>
          <p:cNvPr id="29" name="Shape 27"/>
          <p:cNvSpPr/>
          <p:nvPr/>
        </p:nvSpPr>
        <p:spPr>
          <a:xfrm>
            <a:off x="4306824" y="2706624"/>
            <a:ext cx="438912" cy="438912"/>
          </a:xfrm>
          <a:prstGeom prst="ellipse">
            <a:avLst/>
          </a:prstGeom>
          <a:solidFill>
            <a:srgbClr val="0B2F42"/>
          </a:solidFill>
          <a:ln w="19050">
            <a:solidFill>
              <a:srgbClr val="FFFFFF"/>
            </a:solidFill>
            <a:prstDash val="solid"/>
          </a:ln>
        </p:spPr>
        <p:txBody>
          <a:bodyPr/>
          <a:lstStyle/>
          <a:p>
            <a:endParaRPr lang="en-US"/>
          </a:p>
        </p:txBody>
      </p:sp>
      <p:sp>
        <p:nvSpPr>
          <p:cNvPr id="30" name="Text 28"/>
          <p:cNvSpPr/>
          <p:nvPr/>
        </p:nvSpPr>
        <p:spPr>
          <a:xfrm>
            <a:off x="4306824" y="27066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B</a:t>
            </a:r>
            <a:endParaRPr lang="en-US" sz="1200" dirty="0"/>
          </a:p>
        </p:txBody>
      </p:sp>
      <p:sp>
        <p:nvSpPr>
          <p:cNvPr id="31" name="Shape 29"/>
          <p:cNvSpPr/>
          <p:nvPr/>
        </p:nvSpPr>
        <p:spPr>
          <a:xfrm>
            <a:off x="2798064" y="3803904"/>
            <a:ext cx="438912" cy="438912"/>
          </a:xfrm>
          <a:prstGeom prst="ellipse">
            <a:avLst/>
          </a:prstGeom>
          <a:solidFill>
            <a:srgbClr val="1C7293"/>
          </a:solidFill>
          <a:ln w="19050">
            <a:solidFill>
              <a:srgbClr val="FFFFFF"/>
            </a:solidFill>
            <a:prstDash val="solid"/>
          </a:ln>
        </p:spPr>
        <p:txBody>
          <a:bodyPr/>
          <a:lstStyle/>
          <a:p>
            <a:endParaRPr lang="en-US"/>
          </a:p>
        </p:txBody>
      </p:sp>
      <p:sp>
        <p:nvSpPr>
          <p:cNvPr id="32" name="Text 30"/>
          <p:cNvSpPr/>
          <p:nvPr/>
        </p:nvSpPr>
        <p:spPr>
          <a:xfrm>
            <a:off x="2798064" y="380390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a:t>
            </a:r>
            <a:endParaRPr lang="en-US" sz="1200" dirty="0"/>
          </a:p>
        </p:txBody>
      </p:sp>
      <p:sp>
        <p:nvSpPr>
          <p:cNvPr id="33" name="Shape 31"/>
          <p:cNvSpPr/>
          <p:nvPr/>
        </p:nvSpPr>
        <p:spPr>
          <a:xfrm>
            <a:off x="1563624" y="4901184"/>
            <a:ext cx="438912" cy="438912"/>
          </a:xfrm>
          <a:prstGeom prst="ellipse">
            <a:avLst/>
          </a:prstGeom>
          <a:solidFill>
            <a:srgbClr val="0B2F42"/>
          </a:solidFill>
          <a:ln w="19050">
            <a:solidFill>
              <a:srgbClr val="FFFFFF"/>
            </a:solidFill>
            <a:prstDash val="solid"/>
          </a:ln>
        </p:spPr>
        <p:txBody>
          <a:bodyPr/>
          <a:lstStyle/>
          <a:p>
            <a:endParaRPr lang="en-US"/>
          </a:p>
        </p:txBody>
      </p:sp>
      <p:sp>
        <p:nvSpPr>
          <p:cNvPr id="34" name="Text 32"/>
          <p:cNvSpPr/>
          <p:nvPr/>
        </p:nvSpPr>
        <p:spPr>
          <a:xfrm>
            <a:off x="1563624" y="49011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a:t>
            </a:r>
            <a:endParaRPr lang="en-US" sz="1200" dirty="0"/>
          </a:p>
        </p:txBody>
      </p:sp>
      <p:sp>
        <p:nvSpPr>
          <p:cNvPr id="35" name="Shape 33"/>
          <p:cNvSpPr/>
          <p:nvPr/>
        </p:nvSpPr>
        <p:spPr>
          <a:xfrm>
            <a:off x="4032504" y="4901184"/>
            <a:ext cx="438912" cy="438912"/>
          </a:xfrm>
          <a:prstGeom prst="ellipse">
            <a:avLst/>
          </a:prstGeom>
          <a:solidFill>
            <a:srgbClr val="1C7293"/>
          </a:solidFill>
          <a:ln w="19050">
            <a:solidFill>
              <a:srgbClr val="FFFFFF"/>
            </a:solidFill>
            <a:prstDash val="solid"/>
          </a:ln>
        </p:spPr>
        <p:txBody>
          <a:bodyPr/>
          <a:lstStyle/>
          <a:p>
            <a:endParaRPr lang="en-US"/>
          </a:p>
        </p:txBody>
      </p:sp>
      <p:sp>
        <p:nvSpPr>
          <p:cNvPr id="36" name="Text 34"/>
          <p:cNvSpPr/>
          <p:nvPr/>
        </p:nvSpPr>
        <p:spPr>
          <a:xfrm>
            <a:off x="4032504" y="49011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a:t>
            </a:r>
            <a:endParaRPr lang="en-US" sz="1200" dirty="0"/>
          </a:p>
        </p:txBody>
      </p:sp>
      <p:sp>
        <p:nvSpPr>
          <p:cNvPr id="37" name="Text 35"/>
          <p:cNvSpPr/>
          <p:nvPr/>
        </p:nvSpPr>
        <p:spPr>
          <a:xfrm>
            <a:off x="914400" y="5257800"/>
            <a:ext cx="4709160" cy="320040"/>
          </a:xfrm>
          <a:prstGeom prst="rect">
            <a:avLst/>
          </a:prstGeom>
          <a:noFill/>
          <a:ln/>
        </p:spPr>
        <p:txBody>
          <a:bodyPr wrap="square" lIns="0" tIns="0" rIns="0" bIns="0" rtlCol="0" anchor="ctr"/>
          <a:lstStyle/>
          <a:p>
            <a:pPr marL="0" indent="0">
              <a:buNone/>
            </a:pPr>
            <a:r>
              <a:rPr lang="en-US" sz="1100" i="1" dirty="0">
                <a:solidFill>
                  <a:srgbClr val="1C7293"/>
                </a:solidFill>
                <a:latin typeface="Times New Roman" pitchFamily="34" charset="0"/>
                <a:ea typeface="Times New Roman" pitchFamily="34" charset="-122"/>
                <a:cs typeface="Times New Roman" pitchFamily="34" charset="-120"/>
              </a:rPr>
              <a:t>Đường đi: A → C → E   (tổng chi phí = 6)</a:t>
            </a:r>
            <a:endParaRPr lang="en-US" sz="1100" dirty="0"/>
          </a:p>
        </p:txBody>
      </p:sp>
      <p:sp>
        <p:nvSpPr>
          <p:cNvPr id="38" name="Shape 36"/>
          <p:cNvSpPr/>
          <p:nvPr/>
        </p:nvSpPr>
        <p:spPr>
          <a:xfrm>
            <a:off x="6263640" y="1920240"/>
            <a:ext cx="5257800" cy="3794760"/>
          </a:xfrm>
          <a:prstGeom prst="roundRect">
            <a:avLst>
              <a:gd name="adj" fmla="val 2892"/>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39" name="Text 37"/>
          <p:cNvSpPr/>
          <p:nvPr/>
        </p:nvSpPr>
        <p:spPr>
          <a:xfrm>
            <a:off x="6537960" y="2103120"/>
            <a:ext cx="4709160" cy="320040"/>
          </a:xfrm>
          <a:prstGeom prst="rect">
            <a:avLst/>
          </a:prstGeom>
          <a:noFill/>
          <a:ln/>
        </p:spPr>
        <p:txBody>
          <a:bodyPr wrap="square" lIns="0" tIns="0" rIns="0" bIns="0" rtlCol="0" anchor="ctr"/>
          <a:lstStyle/>
          <a:p>
            <a:pPr marL="0" indent="0">
              <a:buNone/>
            </a:pPr>
            <a:r>
              <a:rPr lang="en-US" sz="1250" b="1" dirty="0">
                <a:solidFill>
                  <a:srgbClr val="1B2B34"/>
                </a:solidFill>
                <a:latin typeface="Times New Roman" pitchFamily="34" charset="0"/>
                <a:ea typeface="Times New Roman" pitchFamily="34" charset="-122"/>
                <a:cs typeface="Times New Roman" pitchFamily="34" charset="-120"/>
              </a:rPr>
              <a:t>Kết quả Kruskal — cây khung nhỏ nhất (MST)</a:t>
            </a:r>
            <a:endParaRPr lang="en-US" sz="1250" dirty="0"/>
          </a:p>
        </p:txBody>
      </p:sp>
      <p:sp>
        <p:nvSpPr>
          <p:cNvPr id="40" name="Shape 38"/>
          <p:cNvSpPr/>
          <p:nvPr/>
        </p:nvSpPr>
        <p:spPr>
          <a:xfrm>
            <a:off x="7132320" y="2926080"/>
            <a:ext cx="3017520" cy="9144"/>
          </a:xfrm>
          <a:prstGeom prst="line">
            <a:avLst/>
          </a:prstGeom>
          <a:noFill/>
          <a:ln w="19050">
            <a:solidFill>
              <a:srgbClr val="C7D1D5"/>
            </a:solidFill>
            <a:prstDash val="solid"/>
          </a:ln>
        </p:spPr>
        <p:txBody>
          <a:bodyPr/>
          <a:lstStyle/>
          <a:p>
            <a:endParaRPr lang="en-US"/>
          </a:p>
        </p:txBody>
      </p:sp>
      <p:sp>
        <p:nvSpPr>
          <p:cNvPr id="41" name="Shape 39"/>
          <p:cNvSpPr/>
          <p:nvPr/>
        </p:nvSpPr>
        <p:spPr>
          <a:xfrm>
            <a:off x="8494776" y="281635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42" name="Text 40"/>
          <p:cNvSpPr/>
          <p:nvPr/>
        </p:nvSpPr>
        <p:spPr>
          <a:xfrm>
            <a:off x="8494776" y="281635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4</a:t>
            </a:r>
            <a:endParaRPr lang="en-US" sz="900" dirty="0"/>
          </a:p>
        </p:txBody>
      </p:sp>
      <p:sp>
        <p:nvSpPr>
          <p:cNvPr id="43" name="Shape 41"/>
          <p:cNvSpPr/>
          <p:nvPr/>
        </p:nvSpPr>
        <p:spPr>
          <a:xfrm>
            <a:off x="7132320" y="2926080"/>
            <a:ext cx="1508760" cy="1097280"/>
          </a:xfrm>
          <a:prstGeom prst="line">
            <a:avLst/>
          </a:prstGeom>
          <a:noFill/>
          <a:ln w="38100">
            <a:solidFill>
              <a:srgbClr val="F0A202"/>
            </a:solidFill>
            <a:prstDash val="solid"/>
          </a:ln>
        </p:spPr>
        <p:txBody>
          <a:bodyPr/>
          <a:lstStyle/>
          <a:p>
            <a:endParaRPr lang="en-US"/>
          </a:p>
        </p:txBody>
      </p:sp>
      <p:sp>
        <p:nvSpPr>
          <p:cNvPr id="44" name="Shape 42"/>
          <p:cNvSpPr/>
          <p:nvPr/>
        </p:nvSpPr>
        <p:spPr>
          <a:xfrm>
            <a:off x="7740396" y="336499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45" name="Text 43"/>
          <p:cNvSpPr/>
          <p:nvPr/>
        </p:nvSpPr>
        <p:spPr>
          <a:xfrm>
            <a:off x="7740396" y="336499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2</a:t>
            </a:r>
            <a:endParaRPr lang="en-US" sz="900" dirty="0"/>
          </a:p>
        </p:txBody>
      </p:sp>
      <p:sp>
        <p:nvSpPr>
          <p:cNvPr id="46" name="Shape 44"/>
          <p:cNvSpPr/>
          <p:nvPr/>
        </p:nvSpPr>
        <p:spPr>
          <a:xfrm flipV="1">
            <a:off x="8641080" y="2926080"/>
            <a:ext cx="1508760" cy="1097280"/>
          </a:xfrm>
          <a:prstGeom prst="line">
            <a:avLst/>
          </a:prstGeom>
          <a:noFill/>
          <a:ln w="38100">
            <a:solidFill>
              <a:srgbClr val="F0A202"/>
            </a:solidFill>
            <a:prstDash val="solid"/>
          </a:ln>
        </p:spPr>
        <p:txBody>
          <a:bodyPr/>
          <a:lstStyle/>
          <a:p>
            <a:endParaRPr lang="en-US"/>
          </a:p>
        </p:txBody>
      </p:sp>
      <p:sp>
        <p:nvSpPr>
          <p:cNvPr id="47" name="Shape 45"/>
          <p:cNvSpPr/>
          <p:nvPr/>
        </p:nvSpPr>
        <p:spPr>
          <a:xfrm>
            <a:off x="9249156" y="336499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48" name="Text 46"/>
          <p:cNvSpPr/>
          <p:nvPr/>
        </p:nvSpPr>
        <p:spPr>
          <a:xfrm>
            <a:off x="9249156" y="336499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1</a:t>
            </a:r>
            <a:endParaRPr lang="en-US" sz="900" dirty="0"/>
          </a:p>
        </p:txBody>
      </p:sp>
      <p:sp>
        <p:nvSpPr>
          <p:cNvPr id="49" name="Shape 47"/>
          <p:cNvSpPr/>
          <p:nvPr/>
        </p:nvSpPr>
        <p:spPr>
          <a:xfrm flipV="1">
            <a:off x="9875520" y="2926080"/>
            <a:ext cx="274320" cy="2194560"/>
          </a:xfrm>
          <a:prstGeom prst="line">
            <a:avLst/>
          </a:prstGeom>
          <a:noFill/>
          <a:ln w="19050">
            <a:solidFill>
              <a:srgbClr val="C7D1D5"/>
            </a:solidFill>
            <a:prstDash val="solid"/>
          </a:ln>
        </p:spPr>
        <p:txBody>
          <a:bodyPr/>
          <a:lstStyle/>
          <a:p>
            <a:endParaRPr lang="en-US"/>
          </a:p>
        </p:txBody>
      </p:sp>
      <p:sp>
        <p:nvSpPr>
          <p:cNvPr id="50" name="Shape 48"/>
          <p:cNvSpPr/>
          <p:nvPr/>
        </p:nvSpPr>
        <p:spPr>
          <a:xfrm>
            <a:off x="9866376" y="391363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51" name="Text 49"/>
          <p:cNvSpPr/>
          <p:nvPr/>
        </p:nvSpPr>
        <p:spPr>
          <a:xfrm>
            <a:off x="9866376" y="391363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5</a:t>
            </a:r>
            <a:endParaRPr lang="en-US" sz="900" dirty="0"/>
          </a:p>
        </p:txBody>
      </p:sp>
      <p:sp>
        <p:nvSpPr>
          <p:cNvPr id="52" name="Shape 50"/>
          <p:cNvSpPr/>
          <p:nvPr/>
        </p:nvSpPr>
        <p:spPr>
          <a:xfrm flipV="1">
            <a:off x="7406640" y="4023360"/>
            <a:ext cx="1234440" cy="1097280"/>
          </a:xfrm>
          <a:prstGeom prst="line">
            <a:avLst/>
          </a:prstGeom>
          <a:noFill/>
          <a:ln w="38100">
            <a:solidFill>
              <a:srgbClr val="F0A202"/>
            </a:solidFill>
            <a:prstDash val="solid"/>
          </a:ln>
        </p:spPr>
        <p:txBody>
          <a:bodyPr/>
          <a:lstStyle/>
          <a:p>
            <a:endParaRPr lang="en-US"/>
          </a:p>
        </p:txBody>
      </p:sp>
      <p:sp>
        <p:nvSpPr>
          <p:cNvPr id="53" name="Shape 51"/>
          <p:cNvSpPr/>
          <p:nvPr/>
        </p:nvSpPr>
        <p:spPr>
          <a:xfrm>
            <a:off x="7877556" y="446227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54" name="Text 52"/>
          <p:cNvSpPr/>
          <p:nvPr/>
        </p:nvSpPr>
        <p:spPr>
          <a:xfrm>
            <a:off x="7877556" y="446227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3</a:t>
            </a:r>
            <a:endParaRPr lang="en-US" sz="900" dirty="0"/>
          </a:p>
        </p:txBody>
      </p:sp>
      <p:sp>
        <p:nvSpPr>
          <p:cNvPr id="55" name="Shape 53"/>
          <p:cNvSpPr/>
          <p:nvPr/>
        </p:nvSpPr>
        <p:spPr>
          <a:xfrm>
            <a:off x="8641080" y="4023360"/>
            <a:ext cx="1234440" cy="1097280"/>
          </a:xfrm>
          <a:prstGeom prst="line">
            <a:avLst/>
          </a:prstGeom>
          <a:noFill/>
          <a:ln w="19050">
            <a:solidFill>
              <a:srgbClr val="C7D1D5"/>
            </a:solidFill>
            <a:prstDash val="solid"/>
          </a:ln>
        </p:spPr>
        <p:txBody>
          <a:bodyPr/>
          <a:lstStyle/>
          <a:p>
            <a:endParaRPr lang="en-US"/>
          </a:p>
        </p:txBody>
      </p:sp>
      <p:sp>
        <p:nvSpPr>
          <p:cNvPr id="56" name="Shape 54"/>
          <p:cNvSpPr/>
          <p:nvPr/>
        </p:nvSpPr>
        <p:spPr>
          <a:xfrm>
            <a:off x="9111996" y="446227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57" name="Text 55"/>
          <p:cNvSpPr/>
          <p:nvPr/>
        </p:nvSpPr>
        <p:spPr>
          <a:xfrm>
            <a:off x="9111996" y="446227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4</a:t>
            </a:r>
            <a:endParaRPr lang="en-US" sz="900" dirty="0"/>
          </a:p>
        </p:txBody>
      </p:sp>
      <p:sp>
        <p:nvSpPr>
          <p:cNvPr id="58" name="Shape 56"/>
          <p:cNvSpPr/>
          <p:nvPr/>
        </p:nvSpPr>
        <p:spPr>
          <a:xfrm>
            <a:off x="7406640" y="5120640"/>
            <a:ext cx="2468880" cy="9144"/>
          </a:xfrm>
          <a:prstGeom prst="line">
            <a:avLst/>
          </a:prstGeom>
          <a:noFill/>
          <a:ln w="38100">
            <a:solidFill>
              <a:srgbClr val="F0A202"/>
            </a:solidFill>
            <a:prstDash val="solid"/>
          </a:ln>
        </p:spPr>
        <p:txBody>
          <a:bodyPr/>
          <a:lstStyle/>
          <a:p>
            <a:endParaRPr lang="en-US"/>
          </a:p>
        </p:txBody>
      </p:sp>
      <p:sp>
        <p:nvSpPr>
          <p:cNvPr id="59" name="Shape 57"/>
          <p:cNvSpPr/>
          <p:nvPr/>
        </p:nvSpPr>
        <p:spPr>
          <a:xfrm>
            <a:off x="8494776" y="5010912"/>
            <a:ext cx="292608" cy="219456"/>
          </a:xfrm>
          <a:prstGeom prst="roundRect">
            <a:avLst>
              <a:gd name="adj" fmla="val 16667"/>
            </a:avLst>
          </a:prstGeom>
          <a:solidFill>
            <a:srgbClr val="FFFFFF"/>
          </a:solidFill>
          <a:ln w="9525">
            <a:solidFill>
              <a:srgbClr val="E3E9EB"/>
            </a:solidFill>
            <a:prstDash val="solid"/>
          </a:ln>
        </p:spPr>
        <p:txBody>
          <a:bodyPr/>
          <a:lstStyle/>
          <a:p>
            <a:endParaRPr lang="en-US"/>
          </a:p>
        </p:txBody>
      </p:sp>
      <p:sp>
        <p:nvSpPr>
          <p:cNvPr id="60" name="Text 58"/>
          <p:cNvSpPr/>
          <p:nvPr/>
        </p:nvSpPr>
        <p:spPr>
          <a:xfrm>
            <a:off x="8494776" y="5010912"/>
            <a:ext cx="292608" cy="219456"/>
          </a:xfrm>
          <a:prstGeom prst="rect">
            <a:avLst/>
          </a:prstGeom>
          <a:noFill/>
          <a:ln/>
        </p:spPr>
        <p:txBody>
          <a:bodyPr wrap="square" lIns="0" tIns="0" rIns="0" bIns="0" rtlCol="0" anchor="ctr"/>
          <a:lstStyle/>
          <a:p>
            <a:pPr marL="0" indent="0" algn="ctr">
              <a:buNone/>
            </a:pPr>
            <a:r>
              <a:rPr lang="en-US" sz="900" dirty="0">
                <a:solidFill>
                  <a:srgbClr val="6B7C85"/>
                </a:solidFill>
                <a:latin typeface="Times New Roman" pitchFamily="34" charset="0"/>
                <a:ea typeface="Times New Roman" pitchFamily="34" charset="-122"/>
                <a:cs typeface="Times New Roman" pitchFamily="34" charset="-120"/>
              </a:rPr>
              <a:t>2</a:t>
            </a:r>
            <a:endParaRPr lang="en-US" sz="900" dirty="0"/>
          </a:p>
        </p:txBody>
      </p:sp>
      <p:sp>
        <p:nvSpPr>
          <p:cNvPr id="61" name="Shape 59"/>
          <p:cNvSpPr/>
          <p:nvPr/>
        </p:nvSpPr>
        <p:spPr>
          <a:xfrm>
            <a:off x="6912864" y="2706624"/>
            <a:ext cx="438912" cy="438912"/>
          </a:xfrm>
          <a:prstGeom prst="ellipse">
            <a:avLst/>
          </a:prstGeom>
          <a:solidFill>
            <a:srgbClr val="F0A202"/>
          </a:solidFill>
          <a:ln w="19050">
            <a:solidFill>
              <a:srgbClr val="FFFFFF"/>
            </a:solidFill>
            <a:prstDash val="solid"/>
          </a:ln>
        </p:spPr>
        <p:txBody>
          <a:bodyPr/>
          <a:lstStyle/>
          <a:p>
            <a:endParaRPr lang="en-US"/>
          </a:p>
        </p:txBody>
      </p:sp>
      <p:sp>
        <p:nvSpPr>
          <p:cNvPr id="62" name="Text 60"/>
          <p:cNvSpPr/>
          <p:nvPr/>
        </p:nvSpPr>
        <p:spPr>
          <a:xfrm>
            <a:off x="6912864" y="27066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a:t>
            </a:r>
            <a:endParaRPr lang="en-US" sz="1200" dirty="0"/>
          </a:p>
        </p:txBody>
      </p:sp>
      <p:sp>
        <p:nvSpPr>
          <p:cNvPr id="63" name="Shape 61"/>
          <p:cNvSpPr/>
          <p:nvPr/>
        </p:nvSpPr>
        <p:spPr>
          <a:xfrm>
            <a:off x="9930384" y="2706624"/>
            <a:ext cx="438912" cy="438912"/>
          </a:xfrm>
          <a:prstGeom prst="ellipse">
            <a:avLst/>
          </a:prstGeom>
          <a:solidFill>
            <a:srgbClr val="F0A202"/>
          </a:solidFill>
          <a:ln w="19050">
            <a:solidFill>
              <a:srgbClr val="FFFFFF"/>
            </a:solidFill>
            <a:prstDash val="solid"/>
          </a:ln>
        </p:spPr>
        <p:txBody>
          <a:bodyPr/>
          <a:lstStyle/>
          <a:p>
            <a:endParaRPr lang="en-US"/>
          </a:p>
        </p:txBody>
      </p:sp>
      <p:sp>
        <p:nvSpPr>
          <p:cNvPr id="64" name="Text 62"/>
          <p:cNvSpPr/>
          <p:nvPr/>
        </p:nvSpPr>
        <p:spPr>
          <a:xfrm>
            <a:off x="9930384" y="27066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B</a:t>
            </a:r>
            <a:endParaRPr lang="en-US" sz="1200" dirty="0"/>
          </a:p>
        </p:txBody>
      </p:sp>
      <p:sp>
        <p:nvSpPr>
          <p:cNvPr id="65" name="Shape 63"/>
          <p:cNvSpPr/>
          <p:nvPr/>
        </p:nvSpPr>
        <p:spPr>
          <a:xfrm>
            <a:off x="8421624" y="3803904"/>
            <a:ext cx="438912" cy="438912"/>
          </a:xfrm>
          <a:prstGeom prst="ellipse">
            <a:avLst/>
          </a:prstGeom>
          <a:solidFill>
            <a:srgbClr val="F0A202"/>
          </a:solidFill>
          <a:ln w="19050">
            <a:solidFill>
              <a:srgbClr val="FFFFFF"/>
            </a:solidFill>
            <a:prstDash val="solid"/>
          </a:ln>
        </p:spPr>
        <p:txBody>
          <a:bodyPr/>
          <a:lstStyle/>
          <a:p>
            <a:endParaRPr lang="en-US"/>
          </a:p>
        </p:txBody>
      </p:sp>
      <p:sp>
        <p:nvSpPr>
          <p:cNvPr id="66" name="Text 64"/>
          <p:cNvSpPr/>
          <p:nvPr/>
        </p:nvSpPr>
        <p:spPr>
          <a:xfrm>
            <a:off x="8421624" y="380390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a:t>
            </a:r>
            <a:endParaRPr lang="en-US" sz="1200" dirty="0"/>
          </a:p>
        </p:txBody>
      </p:sp>
      <p:sp>
        <p:nvSpPr>
          <p:cNvPr id="67" name="Shape 65"/>
          <p:cNvSpPr/>
          <p:nvPr/>
        </p:nvSpPr>
        <p:spPr>
          <a:xfrm>
            <a:off x="7187184" y="4901184"/>
            <a:ext cx="438912" cy="438912"/>
          </a:xfrm>
          <a:prstGeom prst="ellipse">
            <a:avLst/>
          </a:prstGeom>
          <a:solidFill>
            <a:srgbClr val="F0A202"/>
          </a:solidFill>
          <a:ln w="19050">
            <a:solidFill>
              <a:srgbClr val="FFFFFF"/>
            </a:solidFill>
            <a:prstDash val="solid"/>
          </a:ln>
        </p:spPr>
        <p:txBody>
          <a:bodyPr/>
          <a:lstStyle/>
          <a:p>
            <a:endParaRPr lang="en-US"/>
          </a:p>
        </p:txBody>
      </p:sp>
      <p:sp>
        <p:nvSpPr>
          <p:cNvPr id="68" name="Text 66"/>
          <p:cNvSpPr/>
          <p:nvPr/>
        </p:nvSpPr>
        <p:spPr>
          <a:xfrm>
            <a:off x="7187184" y="49011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a:t>
            </a:r>
            <a:endParaRPr lang="en-US" sz="1200" dirty="0"/>
          </a:p>
        </p:txBody>
      </p:sp>
      <p:sp>
        <p:nvSpPr>
          <p:cNvPr id="69" name="Shape 67"/>
          <p:cNvSpPr/>
          <p:nvPr/>
        </p:nvSpPr>
        <p:spPr>
          <a:xfrm>
            <a:off x="9656064" y="4901184"/>
            <a:ext cx="438912" cy="438912"/>
          </a:xfrm>
          <a:prstGeom prst="ellipse">
            <a:avLst/>
          </a:prstGeom>
          <a:solidFill>
            <a:srgbClr val="F0A202"/>
          </a:solidFill>
          <a:ln w="19050">
            <a:solidFill>
              <a:srgbClr val="FFFFFF"/>
            </a:solidFill>
            <a:prstDash val="solid"/>
          </a:ln>
        </p:spPr>
        <p:txBody>
          <a:bodyPr/>
          <a:lstStyle/>
          <a:p>
            <a:endParaRPr lang="en-US"/>
          </a:p>
        </p:txBody>
      </p:sp>
      <p:sp>
        <p:nvSpPr>
          <p:cNvPr id="70" name="Text 68"/>
          <p:cNvSpPr/>
          <p:nvPr/>
        </p:nvSpPr>
        <p:spPr>
          <a:xfrm>
            <a:off x="9656064" y="49011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a:t>
            </a:r>
            <a:endParaRPr lang="en-US" sz="1200" dirty="0"/>
          </a:p>
        </p:txBody>
      </p:sp>
      <p:sp>
        <p:nvSpPr>
          <p:cNvPr id="71" name="Text 69"/>
          <p:cNvSpPr/>
          <p:nvPr/>
        </p:nvSpPr>
        <p:spPr>
          <a:xfrm>
            <a:off x="6537960" y="5257800"/>
            <a:ext cx="4709160" cy="320040"/>
          </a:xfrm>
          <a:prstGeom prst="rect">
            <a:avLst/>
          </a:prstGeom>
          <a:noFill/>
          <a:ln/>
        </p:spPr>
        <p:txBody>
          <a:bodyPr wrap="square" lIns="0" tIns="0" rIns="0" bIns="0" rtlCol="0" anchor="ctr"/>
          <a:lstStyle/>
          <a:p>
            <a:pPr marL="0" indent="0">
              <a:buNone/>
            </a:pPr>
            <a:r>
              <a:rPr lang="en-US" sz="1100" i="1" dirty="0">
                <a:solidFill>
                  <a:srgbClr val="F0A202"/>
                </a:solidFill>
                <a:latin typeface="Times New Roman" pitchFamily="34" charset="0"/>
                <a:ea typeface="Times New Roman" pitchFamily="34" charset="-122"/>
                <a:cs typeface="Times New Roman" pitchFamily="34" charset="-120"/>
              </a:rPr>
              <a:t>Cạnh chọn: B-C, A-C, D-E, C-D   (tổng chi phí = 8)</a:t>
            </a:r>
            <a:endParaRPr lang="en-US" sz="1100" dirty="0"/>
          </a:p>
        </p:txBody>
      </p:sp>
      <p:sp>
        <p:nvSpPr>
          <p:cNvPr id="72" name="Text 70"/>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73" name="Text 71"/>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So sánh Dijkstra và Kruskal</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Hai thuật toán tối ưu cho hai mục tiêu khác nhau trong hệ thống mạng</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08792" cy="3611880"/>
        </p:xfrm>
        <a:graphic>
          <a:graphicData uri="http://schemas.openxmlformats.org/drawingml/2006/table">
            <a:tbl>
              <a:tblPr/>
              <a:tblGrid>
                <a:gridCol w="3063240">
                  <a:extLst>
                    <a:ext uri="{9D8B030D-6E8A-4147-A177-3AD203B41FA5}">
                      <a16:colId xmlns:a16="http://schemas.microsoft.com/office/drawing/2014/main" val="20000"/>
                    </a:ext>
                  </a:extLst>
                </a:gridCol>
                <a:gridCol w="3922776">
                  <a:extLst>
                    <a:ext uri="{9D8B030D-6E8A-4147-A177-3AD203B41FA5}">
                      <a16:colId xmlns:a16="http://schemas.microsoft.com/office/drawing/2014/main" val="20001"/>
                    </a:ext>
                  </a:extLst>
                </a:gridCol>
                <a:gridCol w="3922776">
                  <a:extLst>
                    <a:ext uri="{9D8B030D-6E8A-4147-A177-3AD203B41FA5}">
                      <a16:colId xmlns:a16="http://schemas.microsoft.com/office/drawing/2014/main" val="20002"/>
                    </a:ext>
                  </a:extLst>
                </a:gridCol>
              </a:tblGrid>
              <a:tr h="502920">
                <a:tc>
                  <a:txBody>
                    <a:bodyPr/>
                    <a:lstStyle/>
                    <a:p>
                      <a:pPr marL="0" indent="0" algn="l">
                        <a:buNone/>
                      </a:pPr>
                      <a:r>
                        <a:rPr lang="en-US" sz="1200" b="1" dirty="0">
                          <a:solidFill>
                            <a:srgbClr val="FFFFFF"/>
                          </a:solidFill>
                          <a:latin typeface="Times New Roman" pitchFamily="34" charset="0"/>
                          <a:ea typeface="Times New Roman" pitchFamily="34" charset="-122"/>
                          <a:cs typeface="Times New Roman" pitchFamily="34" charset="-120"/>
                        </a:rPr>
                        <a:t>Tiêu chí</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1B2B34"/>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Dijkstra</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1C7293"/>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Kruskal</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A202"/>
                    </a:solidFill>
                  </a:tcPr>
                </a:tc>
                <a:extLst>
                  <a:ext uri="{0D108BD9-81ED-4DB2-BD59-A6C34878D82A}">
                    <a16:rowId xmlns:a16="http://schemas.microsoft.com/office/drawing/2014/main" val="10000"/>
                  </a:ext>
                </a:extLst>
              </a:tr>
              <a:tr h="685800">
                <a:tc>
                  <a:txBody>
                    <a:bodyPr/>
                    <a:lstStyle/>
                    <a:p>
                      <a:pPr marL="0" indent="0" algn="l">
                        <a:buNone/>
                      </a:pPr>
                      <a:r>
                        <a:rPr lang="en-US" sz="1200" b="1" dirty="0">
                          <a:solidFill>
                            <a:srgbClr val="1B2B34"/>
                          </a:solidFill>
                          <a:latin typeface="Times New Roman" pitchFamily="34" charset="0"/>
                          <a:ea typeface="Times New Roman" pitchFamily="34" charset="-122"/>
                          <a:cs typeface="Times New Roman" pitchFamily="34" charset="-120"/>
                        </a:rPr>
                        <a:t>Mục tiêu</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F4F5"/>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Tìm đường đi ngắn nhất từ 1 đỉnh nguồn</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EAF3F2"/>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Tìm cây khung có tổng trọng số nhỏ nhất</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DF1E0"/>
                    </a:solidFill>
                  </a:tcPr>
                </a:tc>
                <a:extLst>
                  <a:ext uri="{0D108BD9-81ED-4DB2-BD59-A6C34878D82A}">
                    <a16:rowId xmlns:a16="http://schemas.microsoft.com/office/drawing/2014/main" val="10001"/>
                  </a:ext>
                </a:extLst>
              </a:tr>
              <a:tr h="548640">
                <a:tc>
                  <a:txBody>
                    <a:bodyPr/>
                    <a:lstStyle/>
                    <a:p>
                      <a:pPr marL="0" indent="0" algn="l">
                        <a:buNone/>
                      </a:pPr>
                      <a:r>
                        <a:rPr lang="en-US" sz="1200" b="1" dirty="0">
                          <a:solidFill>
                            <a:srgbClr val="1B2B34"/>
                          </a:solidFill>
                          <a:latin typeface="Times New Roman" pitchFamily="34" charset="0"/>
                          <a:ea typeface="Times New Roman" pitchFamily="34" charset="-122"/>
                          <a:cs typeface="Times New Roman" pitchFamily="34" charset="-120"/>
                        </a:rPr>
                        <a:t>Đầu vào</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F4F5"/>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Đồ thị có trọng số không âm</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EAF3F2"/>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Đồ thị vô hướng có trọng số</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DF1E0"/>
                    </a:solidFill>
                  </a:tcPr>
                </a:tc>
                <a:extLst>
                  <a:ext uri="{0D108BD9-81ED-4DB2-BD59-A6C34878D82A}">
                    <a16:rowId xmlns:a16="http://schemas.microsoft.com/office/drawing/2014/main" val="10002"/>
                  </a:ext>
                </a:extLst>
              </a:tr>
              <a:tr h="685800">
                <a:tc>
                  <a:txBody>
                    <a:bodyPr/>
                    <a:lstStyle/>
                    <a:p>
                      <a:pPr marL="0" indent="0" algn="l">
                        <a:buNone/>
                      </a:pPr>
                      <a:r>
                        <a:rPr lang="en-US" sz="1200" b="1" dirty="0">
                          <a:solidFill>
                            <a:srgbClr val="1B2B34"/>
                          </a:solidFill>
                          <a:latin typeface="Times New Roman" pitchFamily="34" charset="0"/>
                          <a:ea typeface="Times New Roman" pitchFamily="34" charset="-122"/>
                          <a:cs typeface="Times New Roman" pitchFamily="34" charset="-120"/>
                        </a:rPr>
                        <a:t>Cấu trúc dữ liệu chính</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F4F5"/>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Priority queue (min-heap)</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EAF3F2"/>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Union-Find (DSU) + sắp xếp cạnh</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DF1E0"/>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1B2B34"/>
                          </a:solidFill>
                          <a:latin typeface="Times New Roman" pitchFamily="34" charset="0"/>
                          <a:ea typeface="Times New Roman" pitchFamily="34" charset="-122"/>
                          <a:cs typeface="Times New Roman" pitchFamily="34" charset="-120"/>
                        </a:rPr>
                        <a:t>Độ phức tạp</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F4F5"/>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O((V + E) log V)</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EAF3F2"/>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O(E log E)</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DF1E0"/>
                    </a:solidFill>
                  </a:tcPr>
                </a:tc>
                <a:extLst>
                  <a:ext uri="{0D108BD9-81ED-4DB2-BD59-A6C34878D82A}">
                    <a16:rowId xmlns:a16="http://schemas.microsoft.com/office/drawing/2014/main" val="10004"/>
                  </a:ext>
                </a:extLst>
              </a:tr>
              <a:tr h="685800">
                <a:tc>
                  <a:txBody>
                    <a:bodyPr/>
                    <a:lstStyle/>
                    <a:p>
                      <a:pPr marL="0" indent="0" algn="l">
                        <a:buNone/>
                      </a:pPr>
                      <a:r>
                        <a:rPr lang="en-US" sz="1200" b="1" dirty="0">
                          <a:solidFill>
                            <a:srgbClr val="1B2B34"/>
                          </a:solidFill>
                          <a:latin typeface="Times New Roman" pitchFamily="34" charset="0"/>
                          <a:ea typeface="Times New Roman" pitchFamily="34" charset="-122"/>
                          <a:cs typeface="Times New Roman" pitchFamily="34" charset="-120"/>
                        </a:rPr>
                        <a:t>Ứng dụng trong mạng</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0F4F5"/>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Định tuyến gói tin (giao thức OSPF)</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EAF3F2"/>
                    </a:solidFill>
                  </a:tcPr>
                </a:tc>
                <a:tc>
                  <a:txBody>
                    <a:bodyPr/>
                    <a:lstStyle/>
                    <a:p>
                      <a:pPr marL="0" indent="0" algn="ctr">
                        <a:buNone/>
                      </a:pPr>
                      <a:r>
                        <a:rPr lang="en-US" sz="1200" dirty="0">
                          <a:solidFill>
                            <a:srgbClr val="1B2B34"/>
                          </a:solidFill>
                          <a:latin typeface="Times New Roman" pitchFamily="34" charset="0"/>
                          <a:ea typeface="Times New Roman" pitchFamily="34" charset="-122"/>
                          <a:cs typeface="Times New Roman" pitchFamily="34" charset="-120"/>
                        </a:rPr>
                        <a:t>Thiết kế hạ tầng cáp tối ưu chi phí</a:t>
                      </a:r>
                      <a:endParaRPr lang="en-US" sz="1200" dirty="0">
                        <a:latin typeface="Times New Roman" charset="0"/>
                        <a:ea typeface="Times New Roman" charset="0"/>
                        <a:cs typeface="Times New Roman" charset="0"/>
                      </a:endParaRPr>
                    </a:p>
                  </a:txBody>
                  <a:tcPr marL="127000" marR="127000" marT="50800" marB="50800" anchor="ctr">
                    <a:lnL w="9525" cap="flat" cmpd="sng" algn="ctr">
                      <a:solidFill>
                        <a:srgbClr val="DDE6E9"/>
                      </a:solidFill>
                      <a:prstDash val="solid"/>
                      <a:round/>
                      <a:headEnd type="none" w="med" len="med"/>
                      <a:tailEnd type="none" w="med" len="med"/>
                    </a:lnL>
                    <a:lnR w="9525" cap="flat" cmpd="sng" algn="ctr">
                      <a:solidFill>
                        <a:srgbClr val="DDE6E9"/>
                      </a:solidFill>
                      <a:prstDash val="solid"/>
                      <a:round/>
                      <a:headEnd type="none" w="med" len="med"/>
                      <a:tailEnd type="none" w="med" len="med"/>
                    </a:lnR>
                    <a:lnT w="9525" cap="flat" cmpd="sng" algn="ctr">
                      <a:solidFill>
                        <a:srgbClr val="DDE6E9"/>
                      </a:solidFill>
                      <a:prstDash val="solid"/>
                      <a:round/>
                      <a:headEnd type="none" w="med" len="med"/>
                      <a:tailEnd type="none" w="med" len="med"/>
                    </a:lnT>
                    <a:lnB w="9525" cap="flat" cmpd="sng" algn="ctr">
                      <a:solidFill>
                        <a:srgbClr val="DDE6E9"/>
                      </a:solidFill>
                      <a:prstDash val="solid"/>
                      <a:round/>
                      <a:headEnd type="none" w="med" len="med"/>
                      <a:tailEnd type="none" w="med" len="med"/>
                    </a:lnB>
                    <a:solidFill>
                      <a:srgbClr val="FDF1E0"/>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6" name="Text 3"/>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A"/>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buNone/>
            </a:pPr>
            <a:r>
              <a:rPr lang="en-US" sz="3000" b="1" dirty="0">
                <a:solidFill>
                  <a:srgbClr val="1B2B34"/>
                </a:solidFill>
                <a:latin typeface="Times New Roman" pitchFamily="34" charset="0"/>
                <a:ea typeface="Times New Roman" pitchFamily="34" charset="-122"/>
                <a:cs typeface="Times New Roman" pitchFamily="34" charset="-120"/>
              </a:rPr>
              <a:t>Quy trình xây dựng chương trình mô phỏng</a:t>
            </a:r>
            <a:endParaRPr lang="en-US" sz="3000" dirty="0"/>
          </a:p>
        </p:txBody>
      </p:sp>
      <p:sp>
        <p:nvSpPr>
          <p:cNvPr id="3" name="Text 1"/>
          <p:cNvSpPr/>
          <p:nvPr/>
        </p:nvSpPr>
        <p:spPr>
          <a:xfrm>
            <a:off x="640080" y="1051560"/>
            <a:ext cx="10881360" cy="365760"/>
          </a:xfrm>
          <a:prstGeom prst="rect">
            <a:avLst/>
          </a:prstGeom>
          <a:noFill/>
          <a:ln/>
        </p:spPr>
        <p:txBody>
          <a:bodyPr wrap="square" lIns="0" tIns="0" rIns="0" bIns="0" rtlCol="0" anchor="ctr"/>
          <a:lstStyle/>
          <a:p>
            <a:pPr marL="0" indent="0">
              <a:buNone/>
            </a:pPr>
            <a:r>
              <a:rPr lang="en-US" sz="1400" dirty="0">
                <a:solidFill>
                  <a:srgbClr val="6B7C85"/>
                </a:solidFill>
                <a:latin typeface="Times New Roman" pitchFamily="34" charset="0"/>
                <a:ea typeface="Times New Roman" pitchFamily="34" charset="-122"/>
                <a:cs typeface="Times New Roman" pitchFamily="34" charset="-120"/>
              </a:rPr>
              <a:t>Đã hoàn thành 3/4 </a:t>
            </a:r>
            <a:r>
              <a:rPr lang="en-US" sz="1400" dirty="0" err="1">
                <a:solidFill>
                  <a:srgbClr val="6B7C85"/>
                </a:solidFill>
                <a:latin typeface="Times New Roman" pitchFamily="34" charset="0"/>
                <a:ea typeface="Times New Roman" pitchFamily="34" charset="-122"/>
                <a:cs typeface="Times New Roman" pitchFamily="34" charset="-120"/>
              </a:rPr>
              <a:t>bước</a:t>
            </a:r>
            <a:r>
              <a:rPr lang="en-US" sz="1400" dirty="0">
                <a:solidFill>
                  <a:srgbClr val="6B7C85"/>
                </a:solidFill>
                <a:latin typeface="Times New Roman" pitchFamily="34" charset="0"/>
                <a:ea typeface="Times New Roman" pitchFamily="34" charset="-122"/>
                <a:cs typeface="Times New Roman" pitchFamily="34" charset="-120"/>
              </a:rPr>
              <a:t> </a:t>
            </a:r>
            <a:endParaRPr lang="en-US" sz="1400" dirty="0"/>
          </a:p>
        </p:txBody>
      </p:sp>
      <p:sp>
        <p:nvSpPr>
          <p:cNvPr id="4" name="Shape 2"/>
          <p:cNvSpPr/>
          <p:nvPr/>
        </p:nvSpPr>
        <p:spPr>
          <a:xfrm>
            <a:off x="64008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5" name="Shape 3"/>
          <p:cNvSpPr/>
          <p:nvPr/>
        </p:nvSpPr>
        <p:spPr>
          <a:xfrm>
            <a:off x="1580769" y="2194560"/>
            <a:ext cx="621792" cy="621792"/>
          </a:xfrm>
          <a:prstGeom prst="ellipse">
            <a:avLst/>
          </a:prstGeom>
          <a:solidFill>
            <a:srgbClr val="065A82"/>
          </a:solidFill>
          <a:ln/>
        </p:spPr>
        <p:txBody>
          <a:bodyPr/>
          <a:lstStyle/>
          <a:p>
            <a:endParaRPr lang="en-US"/>
          </a:p>
        </p:txBody>
      </p:sp>
      <p:sp>
        <p:nvSpPr>
          <p:cNvPr id="6" name="Text 4"/>
          <p:cNvSpPr/>
          <p:nvPr/>
        </p:nvSpPr>
        <p:spPr>
          <a:xfrm>
            <a:off x="158076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1</a:t>
            </a:r>
            <a:endParaRPr lang="en-US" sz="2000" dirty="0"/>
          </a:p>
        </p:txBody>
      </p:sp>
      <p:sp>
        <p:nvSpPr>
          <p:cNvPr id="7" name="Text 5"/>
          <p:cNvSpPr/>
          <p:nvPr/>
        </p:nvSpPr>
        <p:spPr>
          <a:xfrm>
            <a:off x="71323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Xây dựng đồ thị</a:t>
            </a:r>
            <a:endParaRPr lang="en-US" sz="1300" dirty="0"/>
          </a:p>
        </p:txBody>
      </p:sp>
      <p:sp>
        <p:nvSpPr>
          <p:cNvPr id="8" name="Text 6"/>
          <p:cNvSpPr/>
          <p:nvPr/>
        </p:nvSpPr>
        <p:spPr>
          <a:xfrm>
            <a:off x="731520" y="3438144"/>
            <a:ext cx="2320290" cy="905256"/>
          </a:xfrm>
          <a:prstGeom prst="rect">
            <a:avLst/>
          </a:prstGeom>
          <a:noFill/>
          <a:ln/>
        </p:spPr>
        <p:txBody>
          <a:bodyPr wrap="square" lIns="0" tIns="0" rIns="0" bIns="0" rtlCol="0" anchor="t"/>
          <a:lstStyle/>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 Đã hoàn thành</a:t>
            </a:r>
            <a:endParaRPr lang="en-US" sz="950" dirty="0"/>
          </a:p>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Danh sách kề &amp; danh sách cạnh</a:t>
            </a:r>
            <a:endParaRPr lang="en-US" sz="950" dirty="0"/>
          </a:p>
        </p:txBody>
      </p:sp>
      <p:sp>
        <p:nvSpPr>
          <p:cNvPr id="9" name="Shape 7"/>
          <p:cNvSpPr/>
          <p:nvPr/>
        </p:nvSpPr>
        <p:spPr>
          <a:xfrm>
            <a:off x="3161538" y="3054096"/>
            <a:ext cx="219456" cy="201168"/>
          </a:xfrm>
          <a:prstGeom prst="rightArrow">
            <a:avLst/>
          </a:prstGeom>
          <a:solidFill>
            <a:srgbClr val="B9C6CB"/>
          </a:solidFill>
          <a:ln/>
        </p:spPr>
        <p:txBody>
          <a:bodyPr/>
          <a:lstStyle/>
          <a:p>
            <a:endParaRPr lang="en-US"/>
          </a:p>
        </p:txBody>
      </p:sp>
      <p:sp>
        <p:nvSpPr>
          <p:cNvPr id="10" name="Shape 8"/>
          <p:cNvSpPr/>
          <p:nvPr/>
        </p:nvSpPr>
        <p:spPr>
          <a:xfrm>
            <a:off x="341757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1" name="Shape 9"/>
          <p:cNvSpPr/>
          <p:nvPr/>
        </p:nvSpPr>
        <p:spPr>
          <a:xfrm>
            <a:off x="4358259" y="2194560"/>
            <a:ext cx="621792" cy="621792"/>
          </a:xfrm>
          <a:prstGeom prst="ellipse">
            <a:avLst/>
          </a:prstGeom>
          <a:solidFill>
            <a:srgbClr val="1C7293"/>
          </a:solidFill>
          <a:ln/>
        </p:spPr>
        <p:txBody>
          <a:bodyPr/>
          <a:lstStyle/>
          <a:p>
            <a:endParaRPr lang="en-US"/>
          </a:p>
        </p:txBody>
      </p:sp>
      <p:sp>
        <p:nvSpPr>
          <p:cNvPr id="12" name="Text 10"/>
          <p:cNvSpPr/>
          <p:nvPr/>
        </p:nvSpPr>
        <p:spPr>
          <a:xfrm>
            <a:off x="435825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2</a:t>
            </a:r>
            <a:endParaRPr lang="en-US" sz="2000" dirty="0"/>
          </a:p>
        </p:txBody>
      </p:sp>
      <p:sp>
        <p:nvSpPr>
          <p:cNvPr id="13" name="Text 11"/>
          <p:cNvSpPr/>
          <p:nvPr/>
        </p:nvSpPr>
        <p:spPr>
          <a:xfrm>
            <a:off x="349072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Cài đặt Dijkstra</a:t>
            </a:r>
            <a:endParaRPr lang="en-US" sz="1300" dirty="0"/>
          </a:p>
        </p:txBody>
      </p:sp>
      <p:sp>
        <p:nvSpPr>
          <p:cNvPr id="14" name="Text 12"/>
          <p:cNvSpPr/>
          <p:nvPr/>
        </p:nvSpPr>
        <p:spPr>
          <a:xfrm>
            <a:off x="3509010" y="3438144"/>
            <a:ext cx="2320290" cy="905256"/>
          </a:xfrm>
          <a:prstGeom prst="rect">
            <a:avLst/>
          </a:prstGeom>
          <a:noFill/>
          <a:ln/>
        </p:spPr>
        <p:txBody>
          <a:bodyPr wrap="square" lIns="0" tIns="0" rIns="0" bIns="0" rtlCol="0" anchor="t"/>
          <a:lstStyle/>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 Đã hoàn thành</a:t>
            </a:r>
            <a:endParaRPr lang="en-US" sz="950" dirty="0"/>
          </a:p>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Tìm đường đi ngắn nhất</a:t>
            </a:r>
            <a:endParaRPr lang="en-US" sz="950" dirty="0"/>
          </a:p>
        </p:txBody>
      </p:sp>
      <p:sp>
        <p:nvSpPr>
          <p:cNvPr id="15" name="Shape 13"/>
          <p:cNvSpPr/>
          <p:nvPr/>
        </p:nvSpPr>
        <p:spPr>
          <a:xfrm>
            <a:off x="5939028" y="3054096"/>
            <a:ext cx="219456" cy="201168"/>
          </a:xfrm>
          <a:prstGeom prst="rightArrow">
            <a:avLst/>
          </a:prstGeom>
          <a:solidFill>
            <a:srgbClr val="B9C6CB"/>
          </a:solidFill>
          <a:ln/>
        </p:spPr>
        <p:txBody>
          <a:bodyPr/>
          <a:lstStyle/>
          <a:p>
            <a:endParaRPr lang="en-US"/>
          </a:p>
        </p:txBody>
      </p:sp>
      <p:sp>
        <p:nvSpPr>
          <p:cNvPr id="16" name="Shape 14"/>
          <p:cNvSpPr/>
          <p:nvPr/>
        </p:nvSpPr>
        <p:spPr>
          <a:xfrm>
            <a:off x="619506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17" name="Shape 15"/>
          <p:cNvSpPr/>
          <p:nvPr/>
        </p:nvSpPr>
        <p:spPr>
          <a:xfrm>
            <a:off x="7135749" y="2194560"/>
            <a:ext cx="621792" cy="621792"/>
          </a:xfrm>
          <a:prstGeom prst="ellipse">
            <a:avLst/>
          </a:prstGeom>
          <a:solidFill>
            <a:srgbClr val="F0A202"/>
          </a:solidFill>
          <a:ln/>
        </p:spPr>
        <p:txBody>
          <a:bodyPr/>
          <a:lstStyle/>
          <a:p>
            <a:endParaRPr lang="en-US"/>
          </a:p>
        </p:txBody>
      </p:sp>
      <p:sp>
        <p:nvSpPr>
          <p:cNvPr id="18" name="Text 16"/>
          <p:cNvSpPr/>
          <p:nvPr/>
        </p:nvSpPr>
        <p:spPr>
          <a:xfrm>
            <a:off x="713574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3</a:t>
            </a:r>
            <a:endParaRPr lang="en-US" sz="2000" dirty="0"/>
          </a:p>
        </p:txBody>
      </p:sp>
      <p:sp>
        <p:nvSpPr>
          <p:cNvPr id="19" name="Text 17"/>
          <p:cNvSpPr/>
          <p:nvPr/>
        </p:nvSpPr>
        <p:spPr>
          <a:xfrm>
            <a:off x="626821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Cài đặt Kruskal</a:t>
            </a:r>
            <a:endParaRPr lang="en-US" sz="1300" dirty="0"/>
          </a:p>
        </p:txBody>
      </p:sp>
      <p:sp>
        <p:nvSpPr>
          <p:cNvPr id="20" name="Text 18"/>
          <p:cNvSpPr/>
          <p:nvPr/>
        </p:nvSpPr>
        <p:spPr>
          <a:xfrm>
            <a:off x="6286500" y="3438144"/>
            <a:ext cx="2320290" cy="905256"/>
          </a:xfrm>
          <a:prstGeom prst="rect">
            <a:avLst/>
          </a:prstGeom>
          <a:noFill/>
          <a:ln/>
        </p:spPr>
        <p:txBody>
          <a:bodyPr wrap="square" lIns="0" tIns="0" rIns="0" bIns="0" rtlCol="0" anchor="t"/>
          <a:lstStyle/>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 Đã hoàn thành</a:t>
            </a:r>
            <a:endParaRPr lang="en-US" sz="950" dirty="0"/>
          </a:p>
          <a:p>
            <a:pPr marL="0" indent="0" algn="ctr">
              <a:lnSpc>
                <a:spcPct val="115000"/>
              </a:lnSpc>
              <a:buNone/>
            </a:pPr>
            <a:r>
              <a:rPr lang="en-US" sz="950" b="1" dirty="0">
                <a:solidFill>
                  <a:srgbClr val="1C7293"/>
                </a:solidFill>
                <a:latin typeface="Times New Roman" pitchFamily="34" charset="0"/>
                <a:ea typeface="Times New Roman" pitchFamily="34" charset="-122"/>
                <a:cs typeface="Times New Roman" pitchFamily="34" charset="-120"/>
              </a:rPr>
              <a:t>Tìm cây khung nhỏ nhất</a:t>
            </a:r>
            <a:endParaRPr lang="en-US" sz="950" dirty="0"/>
          </a:p>
        </p:txBody>
      </p:sp>
      <p:sp>
        <p:nvSpPr>
          <p:cNvPr id="21" name="Shape 19"/>
          <p:cNvSpPr/>
          <p:nvPr/>
        </p:nvSpPr>
        <p:spPr>
          <a:xfrm>
            <a:off x="8716518" y="3054096"/>
            <a:ext cx="219456" cy="201168"/>
          </a:xfrm>
          <a:prstGeom prst="rightArrow">
            <a:avLst/>
          </a:prstGeom>
          <a:solidFill>
            <a:srgbClr val="B9C6CB"/>
          </a:solidFill>
          <a:ln/>
        </p:spPr>
        <p:txBody>
          <a:bodyPr/>
          <a:lstStyle/>
          <a:p>
            <a:endParaRPr lang="en-US"/>
          </a:p>
        </p:txBody>
      </p:sp>
      <p:sp>
        <p:nvSpPr>
          <p:cNvPr id="22" name="Shape 20"/>
          <p:cNvSpPr/>
          <p:nvPr/>
        </p:nvSpPr>
        <p:spPr>
          <a:xfrm>
            <a:off x="8972550" y="1965960"/>
            <a:ext cx="2503170" cy="2377440"/>
          </a:xfrm>
          <a:prstGeom prst="roundRect">
            <a:avLst>
              <a:gd name="adj" fmla="val 4615"/>
            </a:avLst>
          </a:prstGeom>
          <a:solidFill>
            <a:srgbClr val="FFFFFF"/>
          </a:solidFill>
          <a:ln w="12700">
            <a:solidFill>
              <a:srgbClr val="DDE6E9"/>
            </a:solidFill>
            <a:prstDash val="solid"/>
          </a:ln>
          <a:effectLst>
            <a:outerShdw blurRad="76200" dist="25400" dir="5400000" algn="bl" rotWithShape="0">
              <a:srgbClr val="9AAFB6">
                <a:alpha val="25000"/>
              </a:srgbClr>
            </a:outerShdw>
          </a:effectLst>
        </p:spPr>
        <p:txBody>
          <a:bodyPr/>
          <a:lstStyle/>
          <a:p>
            <a:endParaRPr lang="en-US"/>
          </a:p>
        </p:txBody>
      </p:sp>
      <p:sp>
        <p:nvSpPr>
          <p:cNvPr id="23" name="Shape 21"/>
          <p:cNvSpPr/>
          <p:nvPr/>
        </p:nvSpPr>
        <p:spPr>
          <a:xfrm>
            <a:off x="9913239" y="2194560"/>
            <a:ext cx="621792" cy="621792"/>
          </a:xfrm>
          <a:prstGeom prst="ellipse">
            <a:avLst/>
          </a:prstGeom>
          <a:solidFill>
            <a:srgbClr val="4FD1A5"/>
          </a:solidFill>
          <a:ln/>
        </p:spPr>
        <p:txBody>
          <a:bodyPr/>
          <a:lstStyle/>
          <a:p>
            <a:endParaRPr lang="en-US"/>
          </a:p>
        </p:txBody>
      </p:sp>
      <p:sp>
        <p:nvSpPr>
          <p:cNvPr id="24" name="Text 22"/>
          <p:cNvSpPr/>
          <p:nvPr/>
        </p:nvSpPr>
        <p:spPr>
          <a:xfrm>
            <a:off x="9913239" y="2194560"/>
            <a:ext cx="621792"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4</a:t>
            </a:r>
            <a:endParaRPr lang="en-US" sz="2000" dirty="0"/>
          </a:p>
        </p:txBody>
      </p:sp>
      <p:sp>
        <p:nvSpPr>
          <p:cNvPr id="25" name="Text 23"/>
          <p:cNvSpPr/>
          <p:nvPr/>
        </p:nvSpPr>
        <p:spPr>
          <a:xfrm>
            <a:off x="9045702" y="2944368"/>
            <a:ext cx="2356866" cy="502920"/>
          </a:xfrm>
          <a:prstGeom prst="rect">
            <a:avLst/>
          </a:prstGeom>
          <a:noFill/>
          <a:ln/>
        </p:spPr>
        <p:txBody>
          <a:bodyPr wrap="square" lIns="0" tIns="0" rIns="0" bIns="0" rtlCol="0" anchor="t"/>
          <a:lstStyle/>
          <a:p>
            <a:pPr marL="0" indent="0" algn="ctr">
              <a:buNone/>
            </a:pPr>
            <a:r>
              <a:rPr lang="en-US" sz="1300" b="1" dirty="0">
                <a:solidFill>
                  <a:srgbClr val="1B2B34"/>
                </a:solidFill>
                <a:latin typeface="Times New Roman" pitchFamily="34" charset="0"/>
                <a:ea typeface="Times New Roman" pitchFamily="34" charset="-122"/>
                <a:cs typeface="Times New Roman" pitchFamily="34" charset="-120"/>
              </a:rPr>
              <a:t>Trực quan hóa</a:t>
            </a:r>
            <a:endParaRPr lang="en-US" sz="1300" dirty="0"/>
          </a:p>
        </p:txBody>
      </p:sp>
      <p:sp>
        <p:nvSpPr>
          <p:cNvPr id="26" name="Text 24"/>
          <p:cNvSpPr/>
          <p:nvPr/>
        </p:nvSpPr>
        <p:spPr>
          <a:xfrm>
            <a:off x="9063990" y="3438144"/>
            <a:ext cx="2320290" cy="905256"/>
          </a:xfrm>
          <a:prstGeom prst="rect">
            <a:avLst/>
          </a:prstGeom>
          <a:noFill/>
          <a:ln/>
        </p:spPr>
        <p:txBody>
          <a:bodyPr wrap="square" lIns="0" tIns="0" rIns="0" bIns="0" rtlCol="0" anchor="t"/>
          <a:lstStyle/>
          <a:p>
            <a:pPr marL="0" indent="0" algn="ctr">
              <a:lnSpc>
                <a:spcPct val="115000"/>
              </a:lnSpc>
              <a:buNone/>
            </a:pPr>
            <a:r>
              <a:rPr lang="en-US" sz="950" b="1" dirty="0">
                <a:solidFill>
                  <a:srgbClr val="F0A202"/>
                </a:solidFill>
                <a:latin typeface="Times New Roman" pitchFamily="34" charset="0"/>
                <a:ea typeface="Times New Roman" pitchFamily="34" charset="-122"/>
                <a:cs typeface="Times New Roman" pitchFamily="34" charset="-120"/>
              </a:rPr>
              <a:t>→ Đang thực hiện</a:t>
            </a:r>
            <a:endParaRPr lang="en-US" sz="950" dirty="0"/>
          </a:p>
          <a:p>
            <a:pPr marL="0" indent="0" algn="ctr">
              <a:lnSpc>
                <a:spcPct val="115000"/>
              </a:lnSpc>
              <a:buNone/>
            </a:pPr>
            <a:r>
              <a:rPr lang="en-US" sz="950" b="1" dirty="0">
                <a:solidFill>
                  <a:srgbClr val="F0A202"/>
                </a:solidFill>
                <a:latin typeface="Times New Roman" pitchFamily="34" charset="0"/>
                <a:ea typeface="Times New Roman" pitchFamily="34" charset="-122"/>
                <a:cs typeface="Times New Roman" pitchFamily="34" charset="-120"/>
              </a:rPr>
              <a:t>Hiển thị &amp; so sánh kết quả</a:t>
            </a:r>
            <a:endParaRPr lang="en-US" sz="950" dirty="0"/>
          </a:p>
        </p:txBody>
      </p:sp>
      <p:sp>
        <p:nvSpPr>
          <p:cNvPr id="27" name="Text 25"/>
          <p:cNvSpPr/>
          <p:nvPr/>
        </p:nvSpPr>
        <p:spPr>
          <a:xfrm>
            <a:off x="640080" y="4617720"/>
            <a:ext cx="10881360" cy="502920"/>
          </a:xfrm>
          <a:prstGeom prst="rect">
            <a:avLst/>
          </a:prstGeom>
          <a:noFill/>
          <a:ln/>
        </p:spPr>
        <p:txBody>
          <a:bodyPr wrap="square" lIns="0" tIns="0" rIns="0" bIns="0" rtlCol="0" anchor="ctr"/>
          <a:lstStyle/>
          <a:p>
            <a:pPr marL="0" indent="0">
              <a:lnSpc>
                <a:spcPct val="130000"/>
              </a:lnSpc>
              <a:buNone/>
            </a:pPr>
            <a:r>
              <a:rPr lang="en-US" sz="1250" i="1" dirty="0">
                <a:solidFill>
                  <a:srgbClr val="1C7293"/>
                </a:solidFill>
                <a:latin typeface="Times New Roman" pitchFamily="34" charset="0"/>
                <a:ea typeface="Times New Roman" pitchFamily="34" charset="-122"/>
                <a:cs typeface="Times New Roman" pitchFamily="34" charset="-120"/>
              </a:rPr>
              <a:t>.</a:t>
            </a:r>
            <a:endParaRPr lang="en-US" sz="1250" dirty="0"/>
          </a:p>
        </p:txBody>
      </p:sp>
      <p:sp>
        <p:nvSpPr>
          <p:cNvPr id="28" name="Text 26"/>
          <p:cNvSpPr/>
          <p:nvPr/>
        </p:nvSpPr>
        <p:spPr>
          <a:xfrm>
            <a:off x="457200" y="6547104"/>
            <a:ext cx="8229600" cy="274320"/>
          </a:xfrm>
          <a:prstGeom prst="rect">
            <a:avLst/>
          </a:prstGeom>
          <a:noFill/>
          <a:ln/>
        </p:spPr>
        <p:txBody>
          <a:bodyPr wrap="square" lIns="0" tIns="0" rIns="0" bIns="0" rtlCol="0" anchor="ctr"/>
          <a:lstStyle/>
          <a:p>
            <a:pPr marL="0" indent="0">
              <a:buNone/>
            </a:pPr>
            <a:r>
              <a:rPr lang="en-US" sz="900" dirty="0">
                <a:solidFill>
                  <a:srgbClr val="6B7C85"/>
                </a:solidFill>
                <a:latin typeface="Times New Roman" pitchFamily="34" charset="0"/>
                <a:ea typeface="Times New Roman" pitchFamily="34" charset="-122"/>
                <a:cs typeface="Times New Roman" pitchFamily="34" charset="-120"/>
              </a:rPr>
              <a:t>PBL2 — Dijkstra &amp; Kruskal trong mô phỏng, tối ưu hóa mạng</a:t>
            </a:r>
            <a:endParaRPr lang="en-US" sz="900" dirty="0"/>
          </a:p>
        </p:txBody>
      </p:sp>
      <p:sp>
        <p:nvSpPr>
          <p:cNvPr id="29" name="Text 27"/>
          <p:cNvSpPr/>
          <p:nvPr/>
        </p:nvSpPr>
        <p:spPr>
          <a:xfrm>
            <a:off x="11430000" y="6547104"/>
            <a:ext cx="365760" cy="274320"/>
          </a:xfrm>
          <a:prstGeom prst="rect">
            <a:avLst/>
          </a:prstGeom>
          <a:noFill/>
          <a:ln/>
        </p:spPr>
        <p:txBody>
          <a:bodyPr wrap="square" lIns="0" tIns="0" rIns="0" bIns="0" rtlCol="0" anchor="ctr"/>
          <a:lstStyle/>
          <a:p>
            <a:pPr marL="0" indent="0" algn="r">
              <a:buNone/>
            </a:pPr>
            <a:r>
              <a:rPr lang="en-US" sz="900" dirty="0">
                <a:solidFill>
                  <a:srgbClr val="6B7C85"/>
                </a:solidFill>
                <a:latin typeface="Times New Roman" pitchFamily="34" charset="0"/>
                <a:ea typeface="Times New Roman" pitchFamily="34" charset="-122"/>
                <a:cs typeface="Times New Roman"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F42"/>
        </a:solidFill>
        <a:effectLst/>
      </p:bgPr>
    </p:bg>
    <p:spTree>
      <p:nvGrpSpPr>
        <p:cNvPr id="1" name=""/>
        <p:cNvGrpSpPr/>
        <p:nvPr/>
      </p:nvGrpSpPr>
      <p:grpSpPr>
        <a:xfrm>
          <a:off x="0" y="0"/>
          <a:ext cx="0" cy="0"/>
          <a:chOff x="0" y="0"/>
          <a:chExt cx="0" cy="0"/>
        </a:xfrm>
      </p:grpSpPr>
      <p:sp>
        <p:nvSpPr>
          <p:cNvPr id="2" name="Shape 0"/>
          <p:cNvSpPr/>
          <p:nvPr/>
        </p:nvSpPr>
        <p:spPr>
          <a:xfrm>
            <a:off x="9326880" y="4114800"/>
            <a:ext cx="4389120" cy="4389120"/>
          </a:xfrm>
          <a:prstGeom prst="ellipse">
            <a:avLst/>
          </a:prstGeom>
          <a:solidFill>
            <a:srgbClr val="065A82">
              <a:alpha val="45000"/>
            </a:srgbClr>
          </a:solidFill>
          <a:ln/>
        </p:spPr>
        <p:txBody>
          <a:bodyPr/>
          <a:lstStyle/>
          <a:p>
            <a:endParaRPr lang="en-US"/>
          </a:p>
        </p:txBody>
      </p:sp>
      <p:sp>
        <p:nvSpPr>
          <p:cNvPr id="3" name="Shape 1"/>
          <p:cNvSpPr/>
          <p:nvPr/>
        </p:nvSpPr>
        <p:spPr>
          <a:xfrm>
            <a:off x="10058400" y="4846320"/>
            <a:ext cx="2743200" cy="2743200"/>
          </a:xfrm>
          <a:prstGeom prst="ellipse">
            <a:avLst/>
          </a:prstGeom>
          <a:solidFill>
            <a:srgbClr val="4FD1A5">
              <a:alpha val="55000"/>
            </a:srgbClr>
          </a:solidFill>
          <a:ln/>
        </p:spPr>
        <p:txBody>
          <a:bodyPr/>
          <a:lstStyle/>
          <a:p>
            <a:endParaRPr lang="en-US"/>
          </a:p>
        </p:txBody>
      </p:sp>
      <p:sp>
        <p:nvSpPr>
          <p:cNvPr id="4" name="Text 2"/>
          <p:cNvSpPr/>
          <p:nvPr/>
        </p:nvSpPr>
        <p:spPr>
          <a:xfrm>
            <a:off x="822960" y="82296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Định </a:t>
            </a:r>
            <a:r>
              <a:rPr lang="en-US" sz="3000" b="1" dirty="0" err="1">
                <a:solidFill>
                  <a:srgbClr val="FFFFFF"/>
                </a:solidFill>
                <a:latin typeface="Times New Roman" pitchFamily="34" charset="0"/>
                <a:ea typeface="Times New Roman" pitchFamily="34" charset="-122"/>
                <a:cs typeface="Times New Roman" pitchFamily="34" charset="-120"/>
              </a:rPr>
              <a:t>hướng</a:t>
            </a:r>
            <a:r>
              <a:rPr lang="en-US" sz="3000" b="1" dirty="0">
                <a:solidFill>
                  <a:srgbClr val="FFFFFF"/>
                </a:solidFill>
                <a:latin typeface="Times New Roman" pitchFamily="34" charset="0"/>
                <a:ea typeface="Times New Roman" pitchFamily="34" charset="-122"/>
                <a:cs typeface="Times New Roman" pitchFamily="34" charset="-120"/>
              </a:rPr>
              <a:t> tiếp </a:t>
            </a:r>
            <a:r>
              <a:rPr lang="en-US" sz="3000" b="1" dirty="0" err="1">
                <a:solidFill>
                  <a:srgbClr val="FFFFFF"/>
                </a:solidFill>
                <a:latin typeface="Times New Roman" pitchFamily="34" charset="0"/>
                <a:ea typeface="Times New Roman" pitchFamily="34" charset="-122"/>
                <a:cs typeface="Times New Roman" pitchFamily="34" charset="-120"/>
              </a:rPr>
              <a:t>theo</a:t>
            </a:r>
            <a:r>
              <a:rPr lang="en-US" sz="3000" b="1" dirty="0">
                <a:solidFill>
                  <a:srgbClr val="FFFFFF"/>
                </a:solidFill>
                <a:latin typeface="Times New Roman" pitchFamily="34" charset="0"/>
                <a:ea typeface="Times New Roman" pitchFamily="34" charset="-122"/>
                <a:cs typeface="Times New Roman" pitchFamily="34" charset="-120"/>
              </a:rPr>
              <a:t> </a:t>
            </a:r>
            <a:endParaRPr lang="en-US" sz="3000" dirty="0"/>
          </a:p>
        </p:txBody>
      </p:sp>
      <p:sp>
        <p:nvSpPr>
          <p:cNvPr id="6" name="Text 4"/>
          <p:cNvSpPr/>
          <p:nvPr/>
        </p:nvSpPr>
        <p:spPr>
          <a:xfrm>
            <a:off x="1143000" y="1828800"/>
            <a:ext cx="7772400" cy="457200"/>
          </a:xfrm>
          <a:prstGeom prst="rect">
            <a:avLst/>
          </a:prstGeom>
          <a:noFill/>
          <a:ln/>
        </p:spPr>
        <p:txBody>
          <a:bodyPr wrap="square" lIns="0" tIns="0" rIns="0" bIns="0" rtlCol="0" anchor="ctr"/>
          <a:lstStyle/>
          <a:p>
            <a:pPr marL="0" indent="0">
              <a:lnSpc>
                <a:spcPct val="125000"/>
              </a:lnSpc>
              <a:buNone/>
            </a:pPr>
            <a:endParaRPr lang="en-US" sz="1500" dirty="0"/>
          </a:p>
        </p:txBody>
      </p:sp>
      <p:sp>
        <p:nvSpPr>
          <p:cNvPr id="7" name="Shape 5"/>
          <p:cNvSpPr/>
          <p:nvPr/>
        </p:nvSpPr>
        <p:spPr>
          <a:xfrm>
            <a:off x="824826" y="1984248"/>
            <a:ext cx="146304" cy="146304"/>
          </a:xfrm>
          <a:prstGeom prst="ellipse">
            <a:avLst/>
          </a:prstGeom>
          <a:solidFill>
            <a:srgbClr val="4FD1A5"/>
          </a:solidFill>
          <a:ln/>
        </p:spPr>
        <p:txBody>
          <a:bodyPr/>
          <a:lstStyle/>
          <a:p>
            <a:endParaRPr lang="en-US"/>
          </a:p>
        </p:txBody>
      </p:sp>
      <p:sp>
        <p:nvSpPr>
          <p:cNvPr id="8" name="Text 6"/>
          <p:cNvSpPr/>
          <p:nvPr/>
        </p:nvSpPr>
        <p:spPr>
          <a:xfrm>
            <a:off x="1143000" y="1828800"/>
            <a:ext cx="7772400" cy="457200"/>
          </a:xfrm>
          <a:prstGeom prst="rect">
            <a:avLst/>
          </a:prstGeom>
          <a:noFill/>
          <a:ln/>
        </p:spPr>
        <p:txBody>
          <a:bodyPr wrap="square" lIns="0" tIns="0" rIns="0" bIns="0" rtlCol="0" anchor="ctr"/>
          <a:lstStyle/>
          <a:p>
            <a:pPr marL="0" indent="0">
              <a:lnSpc>
                <a:spcPct val="125000"/>
              </a:lnSpc>
              <a:buNone/>
            </a:pPr>
            <a:r>
              <a:rPr lang="en-US" sz="1500" dirty="0">
                <a:solidFill>
                  <a:srgbClr val="E6F0F3"/>
                </a:solidFill>
                <a:latin typeface="Times New Roman" pitchFamily="34" charset="0"/>
                <a:ea typeface="Times New Roman" pitchFamily="34" charset="-122"/>
                <a:cs typeface="Times New Roman" pitchFamily="34" charset="-120"/>
              </a:rPr>
              <a:t>Đo hiệu năng hai thuật toán trên đồ thị lớn, tối ưu code nếu cần.</a:t>
            </a:r>
            <a:endParaRPr lang="en-US" sz="1500" dirty="0"/>
          </a:p>
        </p:txBody>
      </p:sp>
      <p:sp>
        <p:nvSpPr>
          <p:cNvPr id="9" name="Shape 7"/>
          <p:cNvSpPr/>
          <p:nvPr/>
        </p:nvSpPr>
        <p:spPr>
          <a:xfrm>
            <a:off x="825199" y="2721833"/>
            <a:ext cx="146304" cy="146304"/>
          </a:xfrm>
          <a:prstGeom prst="ellipse">
            <a:avLst/>
          </a:prstGeom>
          <a:solidFill>
            <a:srgbClr val="4FD1A5"/>
          </a:solidFill>
          <a:ln/>
        </p:spPr>
        <p:txBody>
          <a:bodyPr/>
          <a:lstStyle/>
          <a:p>
            <a:endParaRPr lang="en-US"/>
          </a:p>
        </p:txBody>
      </p:sp>
      <p:sp>
        <p:nvSpPr>
          <p:cNvPr id="10" name="Text 8"/>
          <p:cNvSpPr/>
          <p:nvPr/>
        </p:nvSpPr>
        <p:spPr>
          <a:xfrm>
            <a:off x="1143000" y="2551176"/>
            <a:ext cx="7772400" cy="457200"/>
          </a:xfrm>
          <a:prstGeom prst="rect">
            <a:avLst/>
          </a:prstGeom>
          <a:noFill/>
          <a:ln/>
        </p:spPr>
        <p:txBody>
          <a:bodyPr wrap="square" lIns="0" tIns="0" rIns="0" bIns="0" rtlCol="0" anchor="ctr"/>
          <a:lstStyle/>
          <a:p>
            <a:pPr marL="0" indent="0">
              <a:lnSpc>
                <a:spcPct val="125000"/>
              </a:lnSpc>
              <a:buNone/>
            </a:pPr>
            <a:r>
              <a:rPr lang="en-US" sz="1500" dirty="0">
                <a:solidFill>
                  <a:srgbClr val="E6F0F3"/>
                </a:solidFill>
                <a:latin typeface="Times New Roman" pitchFamily="34" charset="0"/>
                <a:ea typeface="Times New Roman" pitchFamily="34" charset="-122"/>
                <a:cs typeface="Times New Roman" pitchFamily="34" charset="-120"/>
              </a:rPr>
              <a:t>Xây dựng module trực quan hóa đồ thị (tô màu đường đi / cây khung nhỏ nhất).</a:t>
            </a:r>
            <a:endParaRPr lang="en-US" sz="1500" dirty="0"/>
          </a:p>
        </p:txBody>
      </p:sp>
      <p:sp>
        <p:nvSpPr>
          <p:cNvPr id="11" name="Shape 9"/>
          <p:cNvSpPr/>
          <p:nvPr/>
        </p:nvSpPr>
        <p:spPr>
          <a:xfrm>
            <a:off x="822960" y="3492448"/>
            <a:ext cx="146304" cy="146304"/>
          </a:xfrm>
          <a:prstGeom prst="ellipse">
            <a:avLst/>
          </a:prstGeom>
          <a:solidFill>
            <a:srgbClr val="4FD1A5"/>
          </a:solidFill>
          <a:ln/>
        </p:spPr>
        <p:txBody>
          <a:bodyPr/>
          <a:lstStyle/>
          <a:p>
            <a:endParaRPr lang="en-US"/>
          </a:p>
        </p:txBody>
      </p:sp>
      <p:sp>
        <p:nvSpPr>
          <p:cNvPr id="12" name="Text 10"/>
          <p:cNvSpPr/>
          <p:nvPr/>
        </p:nvSpPr>
        <p:spPr>
          <a:xfrm>
            <a:off x="1143000" y="3323844"/>
            <a:ext cx="7772400" cy="457200"/>
          </a:xfrm>
          <a:prstGeom prst="rect">
            <a:avLst/>
          </a:prstGeom>
          <a:noFill/>
          <a:ln/>
        </p:spPr>
        <p:txBody>
          <a:bodyPr wrap="square" lIns="0" tIns="0" rIns="0" bIns="0" rtlCol="0" anchor="ctr"/>
          <a:lstStyle/>
          <a:p>
            <a:pPr marL="0" indent="0">
              <a:lnSpc>
                <a:spcPct val="125000"/>
              </a:lnSpc>
              <a:buNone/>
            </a:pPr>
            <a:r>
              <a:rPr lang="en-US" sz="1500" dirty="0">
                <a:solidFill>
                  <a:srgbClr val="E6F0F3"/>
                </a:solidFill>
                <a:latin typeface="Times New Roman" pitchFamily="34" charset="0"/>
                <a:ea typeface="Times New Roman" pitchFamily="34" charset="-122"/>
                <a:cs typeface="Times New Roman" pitchFamily="34" charset="-120"/>
              </a:rPr>
              <a:t>Thiết kế giao diện người dùng và tích hợp thành chương trình hoàn chỉnh.</a:t>
            </a:r>
            <a:endParaRPr lang="en-US" sz="1500" dirty="0"/>
          </a:p>
        </p:txBody>
      </p:sp>
      <p:sp>
        <p:nvSpPr>
          <p:cNvPr id="13" name="Shape 11"/>
          <p:cNvSpPr/>
          <p:nvPr/>
        </p:nvSpPr>
        <p:spPr>
          <a:xfrm>
            <a:off x="822960" y="4215384"/>
            <a:ext cx="146304" cy="146304"/>
          </a:xfrm>
          <a:prstGeom prst="ellipse">
            <a:avLst/>
          </a:prstGeom>
          <a:solidFill>
            <a:srgbClr val="4FD1A5"/>
          </a:solidFill>
          <a:ln/>
        </p:spPr>
        <p:txBody>
          <a:bodyPr/>
          <a:lstStyle/>
          <a:p>
            <a:endParaRPr lang="en-US"/>
          </a:p>
        </p:txBody>
      </p:sp>
      <p:sp>
        <p:nvSpPr>
          <p:cNvPr id="14" name="Text 12"/>
          <p:cNvSpPr/>
          <p:nvPr/>
        </p:nvSpPr>
        <p:spPr>
          <a:xfrm>
            <a:off x="1143000" y="4040109"/>
            <a:ext cx="7772400" cy="457200"/>
          </a:xfrm>
          <a:prstGeom prst="rect">
            <a:avLst/>
          </a:prstGeom>
          <a:noFill/>
          <a:ln/>
        </p:spPr>
        <p:txBody>
          <a:bodyPr wrap="square" lIns="0" tIns="0" rIns="0" bIns="0" rtlCol="0" anchor="ctr"/>
          <a:lstStyle/>
          <a:p>
            <a:pPr marL="0" indent="0">
              <a:lnSpc>
                <a:spcPct val="125000"/>
              </a:lnSpc>
              <a:buNone/>
            </a:pPr>
            <a:r>
              <a:rPr lang="en-US" sz="1500" dirty="0">
                <a:solidFill>
                  <a:srgbClr val="E6F0F3"/>
                </a:solidFill>
                <a:latin typeface="Times New Roman" pitchFamily="34" charset="0"/>
                <a:ea typeface="Times New Roman" pitchFamily="34" charset="-122"/>
                <a:cs typeface="Times New Roman" pitchFamily="34" charset="-120"/>
              </a:rPr>
              <a:t>Hoàn thiện báo cáo tổng kết, chuẩn bị slide và demo bảo vệ đồ án.</a:t>
            </a:r>
            <a:endParaRPr lang="en-US" sz="1500" dirty="0"/>
          </a:p>
        </p:txBody>
      </p:sp>
      <p:sp>
        <p:nvSpPr>
          <p:cNvPr id="15" name="Text 13"/>
          <p:cNvSpPr/>
          <p:nvPr/>
        </p:nvSpPr>
        <p:spPr>
          <a:xfrm>
            <a:off x="822960" y="6126480"/>
            <a:ext cx="8229600" cy="457200"/>
          </a:xfrm>
          <a:prstGeom prst="rect">
            <a:avLst/>
          </a:prstGeom>
          <a:noFill/>
          <a:ln/>
        </p:spPr>
        <p:txBody>
          <a:bodyPr wrap="square" lIns="0" tIns="0" rIns="0" bIns="0" rtlCol="0" anchor="ctr"/>
          <a:lstStyle/>
          <a:p>
            <a:pPr marL="0" indent="0">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1085</Words>
  <Application>Microsoft Office PowerPoint</Application>
  <PresentationFormat>Widescreen</PresentationFormat>
  <Paragraphs>172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Nguyễn Anh Quyến</cp:lastModifiedBy>
  <cp:revision>3</cp:revision>
  <dcterms:created xsi:type="dcterms:W3CDTF">2026-09-15T21:10:13Z</dcterms:created>
  <dcterms:modified xsi:type="dcterms:W3CDTF">2026-09-15T21:41:25Z</dcterms:modified>
</cp:coreProperties>
</file>